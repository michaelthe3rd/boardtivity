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315"/>
        </a:solidFill>
      </p:bgPr>
    </p:bg>
    <p:spTree>
      <p:nvGrpSpPr>
        <p:cNvPr id="1" name=""/>
        <p:cNvGrpSpPr/>
        <p:nvPr/>
      </p:nvGrpSpPr>
      <p:grpSpPr>
        <a:xfrm>
          <a:off x="0" y="0"/>
          <a:ext cx="0" cy="0"/>
          <a:chOff x="0" y="0"/>
          <a:chExt cx="0" cy="0"/>
        </a:xfrm>
      </p:grpSpPr>
      <p:sp>
        <p:nvSpPr>
          <p:cNvPr id="2" name="Text 0"/>
          <p:cNvSpPr/>
          <p:nvPr/>
        </p:nvSpPr>
        <p:spPr>
          <a:xfrm>
            <a:off x="640080" y="1463040"/>
            <a:ext cx="8229600" cy="2194560"/>
          </a:xfrm>
          <a:prstGeom prst="rect">
            <a:avLst/>
          </a:prstGeom>
          <a:noFill/>
          <a:ln/>
        </p:spPr>
        <p:txBody>
          <a:bodyPr wrap="square" rtlCol="0" anchor="ctr"/>
          <a:lstStyle/>
          <a:p>
            <a:pPr indent="0" marL="0">
              <a:lnSpc>
                <a:spcPct val="110000"/>
              </a:lnSpc>
              <a:buNone/>
            </a:pPr>
            <a:r>
              <a:rPr lang="en-US" sz="4600" b="1" dirty="0">
                <a:solidFill>
                  <a:srgbClr val="FFFFFF"/>
                </a:solidFill>
                <a:latin typeface="Arial" pitchFamily="34" charset="0"/>
                <a:ea typeface="Arial" pitchFamily="34" charset="-122"/>
                <a:cs typeface="Arial" pitchFamily="34" charset="-120"/>
              </a:rPr>
              <a:t>The visual board for</a:t>
            </a:r>
            <a:endParaRPr lang="en-US" sz="4600" dirty="0"/>
          </a:p>
          <a:p>
            <a:pPr indent="0" marL="0">
              <a:lnSpc>
                <a:spcPct val="110000"/>
              </a:lnSpc>
              <a:buNone/>
            </a:pPr>
            <a:r>
              <a:rPr lang="en-US" sz="4600" b="1" dirty="0">
                <a:solidFill>
                  <a:srgbClr val="FFFFFF"/>
                </a:solidFill>
                <a:latin typeface="Arial" pitchFamily="34" charset="0"/>
                <a:ea typeface="Arial" pitchFamily="34" charset="-122"/>
                <a:cs typeface="Arial" pitchFamily="34" charset="-120"/>
              </a:rPr>
              <a:t>tasks, ideas, and deep focus.</a:t>
            </a:r>
            <a:endParaRPr lang="en-US" sz="4600" dirty="0"/>
          </a:p>
        </p:txBody>
      </p:sp>
      <p:sp>
        <p:nvSpPr>
          <p:cNvPr id="3" name="Text 1"/>
          <p:cNvSpPr/>
          <p:nvPr/>
        </p:nvSpPr>
        <p:spPr>
          <a:xfrm>
            <a:off x="640080" y="3840480"/>
            <a:ext cx="8412480" cy="1097280"/>
          </a:xfrm>
          <a:prstGeom prst="rect">
            <a:avLst/>
          </a:prstGeom>
          <a:noFill/>
          <a:ln/>
        </p:spPr>
        <p:txBody>
          <a:bodyPr wrap="square" rtlCol="0" anchor="ctr"/>
          <a:lstStyle/>
          <a:p>
            <a:pPr indent="0" marL="0">
              <a:lnSpc>
                <a:spcPct val="160000"/>
              </a:lnSpc>
              <a:buNone/>
            </a:pPr>
            <a:r>
              <a:rPr lang="en-US" sz="1400" dirty="0">
                <a:solidFill>
                  <a:srgbClr val="888888"/>
                </a:solidFill>
                <a:latin typeface="Arial" pitchFamily="34" charset="0"/>
                <a:ea typeface="Arial" pitchFamily="34" charset="-122"/>
                <a:cs typeface="Arial" pitchFamily="34" charset="-120"/>
              </a:rPr>
              <a:t>Boardtivity turns scattered to-dos and half-formed thoughts into one visual workspace — with AI-powered breakdowns, a countdown focus timer, and real-time sync across all devices.</a:t>
            </a:r>
            <a:endParaRPr lang="en-US" sz="1400" dirty="0"/>
          </a:p>
        </p:txBody>
      </p:sp>
      <p:sp>
        <p:nvSpPr>
          <p:cNvPr id="4" name="Text 2"/>
          <p:cNvSpPr/>
          <p:nvPr/>
        </p:nvSpPr>
        <p:spPr>
          <a:xfrm>
            <a:off x="640080" y="457200"/>
            <a:ext cx="3657600" cy="329184"/>
          </a:xfrm>
          <a:prstGeom prst="rect">
            <a:avLst/>
          </a:prstGeom>
          <a:noFill/>
          <a:ln/>
        </p:spPr>
        <p:txBody>
          <a:bodyPr wrap="square" rtlCol="0" anchor="ctr"/>
          <a:lstStyle/>
          <a:p>
            <a:pPr indent="0" marL="0">
              <a:buNone/>
            </a:pPr>
            <a:r>
              <a:rPr lang="en-US" sz="1300" b="1" spc="300" kern="0" dirty="0">
                <a:solidFill>
                  <a:srgbClr val="444444"/>
                </a:solidFill>
                <a:latin typeface="Arial" pitchFamily="34" charset="0"/>
                <a:ea typeface="Arial" pitchFamily="34" charset="-122"/>
                <a:cs typeface="Arial" pitchFamily="34" charset="-120"/>
              </a:rPr>
              <a:t>BOARDTIVITY</a:t>
            </a:r>
            <a:endParaRPr lang="en-US" sz="1300" dirty="0"/>
          </a:p>
        </p:txBody>
      </p:sp>
      <p:sp>
        <p:nvSpPr>
          <p:cNvPr id="5" name="Shape 3"/>
          <p:cNvSpPr/>
          <p:nvPr/>
        </p:nvSpPr>
        <p:spPr>
          <a:xfrm>
            <a:off x="640080" y="5212080"/>
            <a:ext cx="1920240" cy="347472"/>
          </a:xfrm>
          <a:prstGeom prst="roundRect">
            <a:avLst>
              <a:gd name="adj" fmla="val 50000"/>
            </a:avLst>
          </a:prstGeom>
          <a:solidFill>
            <a:srgbClr val="1E2228"/>
          </a:solidFill>
          <a:ln w="6350">
            <a:solidFill>
              <a:srgbClr val="333333"/>
            </a:solidFill>
            <a:prstDash val="solid"/>
          </a:ln>
        </p:spPr>
      </p:sp>
      <p:sp>
        <p:nvSpPr>
          <p:cNvPr id="6" name="Text 4"/>
          <p:cNvSpPr/>
          <p:nvPr/>
        </p:nvSpPr>
        <p:spPr>
          <a:xfrm>
            <a:off x="685800" y="5230368"/>
            <a:ext cx="1828800" cy="310896"/>
          </a:xfrm>
          <a:prstGeom prst="rect">
            <a:avLst/>
          </a:prstGeom>
          <a:noFill/>
          <a:ln/>
        </p:spPr>
        <p:txBody>
          <a:bodyPr wrap="square" rtlCol="0" anchor="ctr"/>
          <a:lstStyle/>
          <a:p>
            <a:pPr indent="0" marL="0">
              <a:buNone/>
            </a:pPr>
            <a:r>
              <a:rPr lang="en-US" sz="900" b="1" dirty="0">
                <a:solidFill>
                  <a:srgbClr val="5A9A5A"/>
                </a:solidFill>
                <a:latin typeface="Arial" pitchFamily="34" charset="0"/>
                <a:ea typeface="Arial" pitchFamily="34" charset="-122"/>
                <a:cs typeface="Arial" pitchFamily="34" charset="-120"/>
              </a:rPr>
              <a:t>● Launching on Product Hunt</a:t>
            </a:r>
            <a:endParaRPr lang="en-US" sz="900" dirty="0"/>
          </a:p>
        </p:txBody>
      </p:sp>
      <p:sp>
        <p:nvSpPr>
          <p:cNvPr id="7" name="Text 5"/>
          <p:cNvSpPr/>
          <p:nvPr/>
        </p:nvSpPr>
        <p:spPr>
          <a:xfrm>
            <a:off x="11000232" y="6446520"/>
            <a:ext cx="914400" cy="274320"/>
          </a:xfrm>
          <a:prstGeom prst="rect">
            <a:avLst/>
          </a:prstGeom>
          <a:noFill/>
          <a:ln/>
        </p:spPr>
        <p:txBody>
          <a:bodyPr wrap="square" rtlCol="0" anchor="ctr"/>
          <a:lstStyle/>
          <a:p>
            <a:pPr algn="r" indent="0" marL="0">
              <a:buNone/>
            </a:pPr>
            <a:r>
              <a:rPr lang="en-US" sz="900" dirty="0">
                <a:solidFill>
                  <a:srgbClr val="333333"/>
                </a:solidFill>
                <a:latin typeface="Arial" pitchFamily="34" charset="0"/>
                <a:ea typeface="Arial" pitchFamily="34" charset="-122"/>
                <a:cs typeface="Arial" pitchFamily="34" charset="-120"/>
              </a:rPr>
              <a:t>01 / 09</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1EB"/>
        </a:solidFill>
      </p:bgPr>
    </p:bg>
    <p:spTree>
      <p:nvGrpSpPr>
        <p:cNvPr id="1" name=""/>
        <p:cNvGrpSpPr/>
        <p:nvPr/>
      </p:nvGrpSpPr>
      <p:grpSpPr>
        <a:xfrm>
          <a:off x="0" y="0"/>
          <a:ext cx="0" cy="0"/>
          <a:chOff x="0" y="0"/>
          <a:chExt cx="0" cy="0"/>
        </a:xfrm>
      </p:grpSpPr>
      <p:sp>
        <p:nvSpPr>
          <p:cNvPr id="2" name="Text 0"/>
          <p:cNvSpPr/>
          <p:nvPr/>
        </p:nvSpPr>
        <p:spPr>
          <a:xfrm>
            <a:off x="640080" y="502920"/>
            <a:ext cx="10908792" cy="201168"/>
          </a:xfrm>
          <a:prstGeom prst="rect">
            <a:avLst/>
          </a:prstGeom>
          <a:noFill/>
          <a:ln/>
        </p:spPr>
        <p:txBody>
          <a:bodyPr wrap="square" rtlCol="0" anchor="ctr"/>
          <a:lstStyle/>
          <a:p>
            <a:pPr indent="0" marL="0">
              <a:buNone/>
            </a:pPr>
            <a:r>
              <a:rPr lang="en-US" sz="900" b="1" spc="200" kern="0" dirty="0">
                <a:solidFill>
                  <a:srgbClr val="888880"/>
                </a:solidFill>
                <a:latin typeface="Arial" pitchFamily="34" charset="0"/>
                <a:ea typeface="Arial" pitchFamily="34" charset="-122"/>
                <a:cs typeface="Arial" pitchFamily="34" charset="-120"/>
              </a:rPr>
              <a:t>THE PROBLEM</a:t>
            </a:r>
            <a:endParaRPr lang="en-US" sz="900" dirty="0"/>
          </a:p>
        </p:txBody>
      </p:sp>
      <p:sp>
        <p:nvSpPr>
          <p:cNvPr id="3" name="Text 1"/>
          <p:cNvSpPr/>
          <p:nvPr/>
        </p:nvSpPr>
        <p:spPr>
          <a:xfrm>
            <a:off x="640080" y="685800"/>
            <a:ext cx="10908792" cy="1463040"/>
          </a:xfrm>
          <a:prstGeom prst="rect">
            <a:avLst/>
          </a:prstGeom>
          <a:noFill/>
          <a:ln/>
        </p:spPr>
        <p:txBody>
          <a:bodyPr wrap="square" rtlCol="0" anchor="ctr"/>
          <a:lstStyle/>
          <a:p>
            <a:pPr indent="0" marL="0">
              <a:lnSpc>
                <a:spcPct val="110000"/>
              </a:lnSpc>
              <a:buNone/>
            </a:pPr>
            <a:r>
              <a:rPr lang="en-US" sz="3400" b="1" dirty="0">
                <a:solidFill>
                  <a:srgbClr val="111315"/>
                </a:solidFill>
                <a:latin typeface="Arial" pitchFamily="34" charset="0"/>
                <a:ea typeface="Arial" pitchFamily="34" charset="-122"/>
                <a:cs typeface="Arial" pitchFamily="34" charset="-120"/>
              </a:rPr>
              <a:t>Productivity tools are</a:t>
            </a:r>
            <a:endParaRPr lang="en-US" sz="3400" dirty="0"/>
          </a:p>
          <a:p>
            <a:pPr indent="0" marL="0">
              <a:lnSpc>
                <a:spcPct val="110000"/>
              </a:lnSpc>
              <a:buNone/>
            </a:pPr>
            <a:r>
              <a:rPr lang="en-US" sz="3400" b="1" dirty="0">
                <a:solidFill>
                  <a:srgbClr val="111315"/>
                </a:solidFill>
                <a:latin typeface="Arial" pitchFamily="34" charset="0"/>
                <a:ea typeface="Arial" pitchFamily="34" charset="-122"/>
                <a:cs typeface="Arial" pitchFamily="34" charset="-120"/>
              </a:rPr>
              <a:t>busy, not useful.</a:t>
            </a:r>
            <a:endParaRPr lang="en-US" sz="3400" dirty="0"/>
          </a:p>
        </p:txBody>
      </p:sp>
      <p:sp>
        <p:nvSpPr>
          <p:cNvPr id="4" name="Text 2"/>
          <p:cNvSpPr/>
          <p:nvPr/>
        </p:nvSpPr>
        <p:spPr>
          <a:xfrm>
            <a:off x="640080" y="1783080"/>
            <a:ext cx="7772400" cy="731520"/>
          </a:xfrm>
          <a:prstGeom prst="rect">
            <a:avLst/>
          </a:prstGeom>
          <a:noFill/>
          <a:ln/>
        </p:spPr>
        <p:txBody>
          <a:bodyPr wrap="square" rtlCol="0" anchor="ctr"/>
          <a:lstStyle/>
          <a:p>
            <a:pPr indent="0" marL="0">
              <a:lnSpc>
                <a:spcPct val="150000"/>
              </a:lnSpc>
              <a:buNone/>
            </a:pPr>
            <a:r>
              <a:rPr lang="en-US" sz="1400" dirty="0">
                <a:solidFill>
                  <a:srgbClr val="888880"/>
                </a:solidFill>
                <a:latin typeface="Arial" pitchFamily="34" charset="0"/>
                <a:ea typeface="Arial" pitchFamily="34" charset="-122"/>
                <a:cs typeface="Arial" pitchFamily="34" charset="-120"/>
              </a:rPr>
              <a:t>Most apps demand more overhead than the work they're managing. You end up managing your tools instead of doing your work.</a:t>
            </a:r>
            <a:endParaRPr lang="en-US" sz="1400" dirty="0"/>
          </a:p>
        </p:txBody>
      </p:sp>
      <p:sp>
        <p:nvSpPr>
          <p:cNvPr id="5" name="Shape 3"/>
          <p:cNvSpPr/>
          <p:nvPr/>
        </p:nvSpPr>
        <p:spPr>
          <a:xfrm>
            <a:off x="640080" y="2834640"/>
            <a:ext cx="3474720" cy="3200400"/>
          </a:xfrm>
          <a:prstGeom prst="roundRect">
            <a:avLst>
              <a:gd name="adj" fmla="val 3429"/>
            </a:avLst>
          </a:prstGeom>
          <a:solidFill>
            <a:srgbClr val="FFFFFF"/>
          </a:solidFill>
          <a:ln w="9525">
            <a:solidFill>
              <a:srgbClr val="E0DDD6"/>
            </a:solidFill>
            <a:prstDash val="solid"/>
          </a:ln>
        </p:spPr>
      </p:sp>
      <p:sp>
        <p:nvSpPr>
          <p:cNvPr id="6" name="Text 4"/>
          <p:cNvSpPr/>
          <p:nvPr/>
        </p:nvSpPr>
        <p:spPr>
          <a:xfrm>
            <a:off x="841248" y="3090672"/>
            <a:ext cx="548640" cy="548640"/>
          </a:xfrm>
          <a:prstGeom prst="rect">
            <a:avLst/>
          </a:prstGeom>
          <a:noFill/>
          <a:ln/>
        </p:spPr>
        <p:txBody>
          <a:bodyPr wrap="square" rtlCol="0" anchor="ctr"/>
          <a:lstStyle/>
          <a:p>
            <a:pPr indent="0" marL="0">
              <a:buNone/>
            </a:pPr>
            <a:r>
              <a:rPr lang="en-US" sz="2600" dirty="0">
                <a:solidFill>
                  <a:srgbClr val="000000"/>
                </a:solidFill>
                <a:latin typeface="Arial" pitchFamily="34" charset="0"/>
                <a:ea typeface="Arial" pitchFamily="34" charset="-122"/>
                <a:cs typeface="Arial" pitchFamily="34" charset="-120"/>
              </a:rPr>
              <a:t>🗂</a:t>
            </a:r>
            <a:endParaRPr lang="en-US" sz="2600" dirty="0"/>
          </a:p>
        </p:txBody>
      </p:sp>
      <p:sp>
        <p:nvSpPr>
          <p:cNvPr id="7" name="Text 5"/>
          <p:cNvSpPr/>
          <p:nvPr/>
        </p:nvSpPr>
        <p:spPr>
          <a:xfrm>
            <a:off x="841248" y="3639312"/>
            <a:ext cx="3017520" cy="502920"/>
          </a:xfrm>
          <a:prstGeom prst="rect">
            <a:avLst/>
          </a:prstGeom>
          <a:noFill/>
          <a:ln/>
        </p:spPr>
        <p:txBody>
          <a:bodyPr wrap="square" rtlCol="0" anchor="ctr"/>
          <a:lstStyle/>
          <a:p>
            <a:pPr indent="0" marL="0">
              <a:buNone/>
            </a:pPr>
            <a:r>
              <a:rPr lang="en-US" sz="1500" b="1" dirty="0">
                <a:solidFill>
                  <a:srgbClr val="111315"/>
                </a:solidFill>
                <a:latin typeface="Arial" pitchFamily="34" charset="0"/>
                <a:ea typeface="Arial" pitchFamily="34" charset="-122"/>
                <a:cs typeface="Arial" pitchFamily="34" charset="-120"/>
              </a:rPr>
              <a:t>Tab overload</a:t>
            </a:r>
            <a:endParaRPr lang="en-US" sz="1500" dirty="0"/>
          </a:p>
        </p:txBody>
      </p:sp>
      <p:sp>
        <p:nvSpPr>
          <p:cNvPr id="8" name="Text 6"/>
          <p:cNvSpPr/>
          <p:nvPr/>
        </p:nvSpPr>
        <p:spPr>
          <a:xfrm>
            <a:off x="841248" y="4114800"/>
            <a:ext cx="3017520" cy="914400"/>
          </a:xfrm>
          <a:prstGeom prst="rect">
            <a:avLst/>
          </a:prstGeom>
          <a:noFill/>
          <a:ln/>
        </p:spPr>
        <p:txBody>
          <a:bodyPr wrap="square" rtlCol="0" anchor="ctr"/>
          <a:lstStyle/>
          <a:p>
            <a:pPr indent="0" marL="0">
              <a:lnSpc>
                <a:spcPct val="150000"/>
              </a:lnSpc>
              <a:buNone/>
            </a:pPr>
            <a:r>
              <a:rPr lang="en-US" sz="1100" dirty="0">
                <a:solidFill>
                  <a:srgbClr val="888880"/>
                </a:solidFill>
                <a:latin typeface="Arial" pitchFamily="34" charset="0"/>
                <a:ea typeface="Arial" pitchFamily="34" charset="-122"/>
                <a:cs typeface="Arial" pitchFamily="34" charset="-120"/>
              </a:rPr>
              <a:t>Tasks here, notes there, ideas somewhere else. Context-switching kills flow before it starts.</a:t>
            </a:r>
            <a:endParaRPr lang="en-US" sz="1100" dirty="0"/>
          </a:p>
        </p:txBody>
      </p:sp>
      <p:sp>
        <p:nvSpPr>
          <p:cNvPr id="9" name="Shape 7"/>
          <p:cNvSpPr/>
          <p:nvPr/>
        </p:nvSpPr>
        <p:spPr>
          <a:xfrm>
            <a:off x="4343400" y="2834640"/>
            <a:ext cx="3474720" cy="3200400"/>
          </a:xfrm>
          <a:prstGeom prst="roundRect">
            <a:avLst>
              <a:gd name="adj" fmla="val 3429"/>
            </a:avLst>
          </a:prstGeom>
          <a:solidFill>
            <a:srgbClr val="FFFFFF"/>
          </a:solidFill>
          <a:ln w="9525">
            <a:solidFill>
              <a:srgbClr val="E0DDD6"/>
            </a:solidFill>
            <a:prstDash val="solid"/>
          </a:ln>
        </p:spPr>
      </p:sp>
      <p:sp>
        <p:nvSpPr>
          <p:cNvPr id="10" name="Text 8"/>
          <p:cNvSpPr/>
          <p:nvPr/>
        </p:nvSpPr>
        <p:spPr>
          <a:xfrm>
            <a:off x="4544568" y="3090672"/>
            <a:ext cx="548640" cy="548640"/>
          </a:xfrm>
          <a:prstGeom prst="rect">
            <a:avLst/>
          </a:prstGeom>
          <a:noFill/>
          <a:ln/>
        </p:spPr>
        <p:txBody>
          <a:bodyPr wrap="square" rtlCol="0" anchor="ctr"/>
          <a:lstStyle/>
          <a:p>
            <a:pPr indent="0" marL="0">
              <a:buNone/>
            </a:pPr>
            <a:r>
              <a:rPr lang="en-US" sz="2600" dirty="0">
                <a:solidFill>
                  <a:srgbClr val="000000"/>
                </a:solidFill>
                <a:latin typeface="Arial" pitchFamily="34" charset="0"/>
                <a:ea typeface="Arial" pitchFamily="34" charset="-122"/>
                <a:cs typeface="Arial" pitchFamily="34" charset="-120"/>
              </a:rPr>
              <a:t>⏱</a:t>
            </a:r>
            <a:endParaRPr lang="en-US" sz="2600" dirty="0"/>
          </a:p>
        </p:txBody>
      </p:sp>
      <p:sp>
        <p:nvSpPr>
          <p:cNvPr id="11" name="Text 9"/>
          <p:cNvSpPr/>
          <p:nvPr/>
        </p:nvSpPr>
        <p:spPr>
          <a:xfrm>
            <a:off x="4544568" y="3639312"/>
            <a:ext cx="3017520" cy="502920"/>
          </a:xfrm>
          <a:prstGeom prst="rect">
            <a:avLst/>
          </a:prstGeom>
          <a:noFill/>
          <a:ln/>
        </p:spPr>
        <p:txBody>
          <a:bodyPr wrap="square" rtlCol="0" anchor="ctr"/>
          <a:lstStyle/>
          <a:p>
            <a:pPr indent="0" marL="0">
              <a:buNone/>
            </a:pPr>
            <a:r>
              <a:rPr lang="en-US" sz="1500" b="1" dirty="0">
                <a:solidFill>
                  <a:srgbClr val="111315"/>
                </a:solidFill>
                <a:latin typeface="Arial" pitchFamily="34" charset="0"/>
                <a:ea typeface="Arial" pitchFamily="34" charset="-122"/>
                <a:cs typeface="Arial" pitchFamily="34" charset="-120"/>
              </a:rPr>
              <a:t>No sense of time</a:t>
            </a:r>
            <a:endParaRPr lang="en-US" sz="1500" dirty="0"/>
          </a:p>
        </p:txBody>
      </p:sp>
      <p:sp>
        <p:nvSpPr>
          <p:cNvPr id="12" name="Text 10"/>
          <p:cNvSpPr/>
          <p:nvPr/>
        </p:nvSpPr>
        <p:spPr>
          <a:xfrm>
            <a:off x="4544568" y="4114800"/>
            <a:ext cx="3017520" cy="914400"/>
          </a:xfrm>
          <a:prstGeom prst="rect">
            <a:avLst/>
          </a:prstGeom>
          <a:noFill/>
          <a:ln/>
        </p:spPr>
        <p:txBody>
          <a:bodyPr wrap="square" rtlCol="0" anchor="ctr"/>
          <a:lstStyle/>
          <a:p>
            <a:pPr indent="0" marL="0">
              <a:lnSpc>
                <a:spcPct val="150000"/>
              </a:lnSpc>
              <a:buNone/>
            </a:pPr>
            <a:r>
              <a:rPr lang="en-US" sz="1100" dirty="0">
                <a:solidFill>
                  <a:srgbClr val="888880"/>
                </a:solidFill>
                <a:latin typeface="Arial" pitchFamily="34" charset="0"/>
                <a:ea typeface="Arial" pitchFamily="34" charset="-122"/>
                <a:cs typeface="Arial" pitchFamily="34" charset="-120"/>
              </a:rPr>
              <a:t>Lists have no urgency. You can add 50 tasks but still feel lost about what to work on now.</a:t>
            </a:r>
            <a:endParaRPr lang="en-US" sz="1100" dirty="0"/>
          </a:p>
        </p:txBody>
      </p:sp>
      <p:sp>
        <p:nvSpPr>
          <p:cNvPr id="13" name="Shape 11"/>
          <p:cNvSpPr/>
          <p:nvPr/>
        </p:nvSpPr>
        <p:spPr>
          <a:xfrm>
            <a:off x="8046720" y="2834640"/>
            <a:ext cx="3474720" cy="3200400"/>
          </a:xfrm>
          <a:prstGeom prst="roundRect">
            <a:avLst>
              <a:gd name="adj" fmla="val 3429"/>
            </a:avLst>
          </a:prstGeom>
          <a:solidFill>
            <a:srgbClr val="FFFFFF"/>
          </a:solidFill>
          <a:ln w="9525">
            <a:solidFill>
              <a:srgbClr val="E0DDD6"/>
            </a:solidFill>
            <a:prstDash val="solid"/>
          </a:ln>
        </p:spPr>
      </p:sp>
      <p:sp>
        <p:nvSpPr>
          <p:cNvPr id="14" name="Text 12"/>
          <p:cNvSpPr/>
          <p:nvPr/>
        </p:nvSpPr>
        <p:spPr>
          <a:xfrm>
            <a:off x="8247888" y="3090672"/>
            <a:ext cx="548640" cy="548640"/>
          </a:xfrm>
          <a:prstGeom prst="rect">
            <a:avLst/>
          </a:prstGeom>
          <a:noFill/>
          <a:ln/>
        </p:spPr>
        <p:txBody>
          <a:bodyPr wrap="square" rtlCol="0" anchor="ctr"/>
          <a:lstStyle/>
          <a:p>
            <a:pPr indent="0" marL="0">
              <a:buNone/>
            </a:pPr>
            <a:r>
              <a:rPr lang="en-US" sz="2600" dirty="0">
                <a:solidFill>
                  <a:srgbClr val="000000"/>
                </a:solidFill>
                <a:latin typeface="Arial" pitchFamily="34" charset="0"/>
                <a:ea typeface="Arial" pitchFamily="34" charset="-122"/>
                <a:cs typeface="Arial" pitchFamily="34" charset="-120"/>
              </a:rPr>
              <a:t>💭</a:t>
            </a:r>
            <a:endParaRPr lang="en-US" sz="2600" dirty="0"/>
          </a:p>
        </p:txBody>
      </p:sp>
      <p:sp>
        <p:nvSpPr>
          <p:cNvPr id="15" name="Text 13"/>
          <p:cNvSpPr/>
          <p:nvPr/>
        </p:nvSpPr>
        <p:spPr>
          <a:xfrm>
            <a:off x="8247888" y="3639312"/>
            <a:ext cx="3017520" cy="502920"/>
          </a:xfrm>
          <a:prstGeom prst="rect">
            <a:avLst/>
          </a:prstGeom>
          <a:noFill/>
          <a:ln/>
        </p:spPr>
        <p:txBody>
          <a:bodyPr wrap="square" rtlCol="0" anchor="ctr"/>
          <a:lstStyle/>
          <a:p>
            <a:pPr indent="0" marL="0">
              <a:buNone/>
            </a:pPr>
            <a:r>
              <a:rPr lang="en-US" sz="1500" b="1" dirty="0">
                <a:solidFill>
                  <a:srgbClr val="111315"/>
                </a:solidFill>
                <a:latin typeface="Arial" pitchFamily="34" charset="0"/>
                <a:ea typeface="Arial" pitchFamily="34" charset="-122"/>
                <a:cs typeface="Arial" pitchFamily="34" charset="-120"/>
              </a:rPr>
              <a:t>Ideas get buried</a:t>
            </a:r>
            <a:endParaRPr lang="en-US" sz="1500" dirty="0"/>
          </a:p>
        </p:txBody>
      </p:sp>
      <p:sp>
        <p:nvSpPr>
          <p:cNvPr id="16" name="Text 14"/>
          <p:cNvSpPr/>
          <p:nvPr/>
        </p:nvSpPr>
        <p:spPr>
          <a:xfrm>
            <a:off x="8247888" y="4114800"/>
            <a:ext cx="3017520" cy="914400"/>
          </a:xfrm>
          <a:prstGeom prst="rect">
            <a:avLst/>
          </a:prstGeom>
          <a:noFill/>
          <a:ln/>
        </p:spPr>
        <p:txBody>
          <a:bodyPr wrap="square" rtlCol="0" anchor="ctr"/>
          <a:lstStyle/>
          <a:p>
            <a:pPr indent="0" marL="0">
              <a:lnSpc>
                <a:spcPct val="150000"/>
              </a:lnSpc>
              <a:buNone/>
            </a:pPr>
            <a:r>
              <a:rPr lang="en-US" sz="1100" dirty="0">
                <a:solidFill>
                  <a:srgbClr val="888880"/>
                </a:solidFill>
                <a:latin typeface="Arial" pitchFamily="34" charset="0"/>
                <a:ea typeface="Arial" pitchFamily="34" charset="-122"/>
                <a:cs typeface="Arial" pitchFamily="34" charset="-120"/>
              </a:rPr>
              <a:t>Fleeting thoughts belong somewhere visual and connected — not in a bullet-point graveyard.</a:t>
            </a:r>
            <a:endParaRPr lang="en-US" sz="1100" dirty="0"/>
          </a:p>
        </p:txBody>
      </p:sp>
      <p:sp>
        <p:nvSpPr>
          <p:cNvPr id="17" name="Text 15"/>
          <p:cNvSpPr/>
          <p:nvPr/>
        </p:nvSpPr>
        <p:spPr>
          <a:xfrm>
            <a:off x="11000232" y="6446520"/>
            <a:ext cx="914400" cy="274320"/>
          </a:xfrm>
          <a:prstGeom prst="rect">
            <a:avLst/>
          </a:prstGeom>
          <a:noFill/>
          <a:ln/>
        </p:spPr>
        <p:txBody>
          <a:bodyPr wrap="square" rtlCol="0" anchor="ctr"/>
          <a:lstStyle/>
          <a:p>
            <a:pPr algn="r" indent="0" marL="0">
              <a:buNone/>
            </a:pPr>
            <a:r>
              <a:rPr lang="en-US" sz="900" dirty="0">
                <a:solidFill>
                  <a:srgbClr val="888880"/>
                </a:solidFill>
                <a:latin typeface="Arial" pitchFamily="34" charset="0"/>
                <a:ea typeface="Arial" pitchFamily="34" charset="-122"/>
                <a:cs typeface="Arial" pitchFamily="34" charset="-120"/>
              </a:rPr>
              <a:t>02 / 09</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1EB"/>
        </a:solidFill>
      </p:bgPr>
    </p:bg>
    <p:spTree>
      <p:nvGrpSpPr>
        <p:cNvPr id="1" name=""/>
        <p:cNvGrpSpPr/>
        <p:nvPr/>
      </p:nvGrpSpPr>
      <p:grpSpPr>
        <a:xfrm>
          <a:off x="0" y="0"/>
          <a:ext cx="0" cy="0"/>
          <a:chOff x="0" y="0"/>
          <a:chExt cx="0" cy="0"/>
        </a:xfrm>
      </p:grpSpPr>
      <p:sp>
        <p:nvSpPr>
          <p:cNvPr id="2" name="Text 0"/>
          <p:cNvSpPr/>
          <p:nvPr/>
        </p:nvSpPr>
        <p:spPr>
          <a:xfrm>
            <a:off x="640080" y="502920"/>
            <a:ext cx="10908792" cy="201168"/>
          </a:xfrm>
          <a:prstGeom prst="rect">
            <a:avLst/>
          </a:prstGeom>
          <a:noFill/>
          <a:ln/>
        </p:spPr>
        <p:txBody>
          <a:bodyPr wrap="square" rtlCol="0" anchor="ctr"/>
          <a:lstStyle/>
          <a:p>
            <a:pPr indent="0" marL="0">
              <a:buNone/>
            </a:pPr>
            <a:r>
              <a:rPr lang="en-US" sz="900" b="1" spc="200" kern="0" dirty="0">
                <a:solidFill>
                  <a:srgbClr val="888880"/>
                </a:solidFill>
                <a:latin typeface="Arial" pitchFamily="34" charset="0"/>
                <a:ea typeface="Arial" pitchFamily="34" charset="-122"/>
                <a:cs typeface="Arial" pitchFamily="34" charset="-120"/>
              </a:rPr>
              <a:t>OUR SOLUTION</a:t>
            </a:r>
            <a:endParaRPr lang="en-US" sz="900" dirty="0"/>
          </a:p>
        </p:txBody>
      </p:sp>
      <p:sp>
        <p:nvSpPr>
          <p:cNvPr id="3" name="Text 1"/>
          <p:cNvSpPr/>
          <p:nvPr/>
        </p:nvSpPr>
        <p:spPr>
          <a:xfrm>
            <a:off x="640080" y="685800"/>
            <a:ext cx="10908792" cy="1463040"/>
          </a:xfrm>
          <a:prstGeom prst="rect">
            <a:avLst/>
          </a:prstGeom>
          <a:noFill/>
          <a:ln/>
        </p:spPr>
        <p:txBody>
          <a:bodyPr wrap="square" rtlCol="0" anchor="ctr"/>
          <a:lstStyle/>
          <a:p>
            <a:pPr indent="0" marL="0">
              <a:lnSpc>
                <a:spcPct val="110000"/>
              </a:lnSpc>
              <a:buNone/>
            </a:pPr>
            <a:r>
              <a:rPr lang="en-US" sz="3400" b="1" dirty="0">
                <a:solidFill>
                  <a:srgbClr val="111315"/>
                </a:solidFill>
                <a:latin typeface="Arial" pitchFamily="34" charset="0"/>
                <a:ea typeface="Arial" pitchFamily="34" charset="-122"/>
                <a:cs typeface="Arial" pitchFamily="34" charset="-120"/>
              </a:rPr>
              <a:t>One canvas.</a:t>
            </a:r>
            <a:endParaRPr lang="en-US" sz="3400" dirty="0"/>
          </a:p>
          <a:p>
            <a:pPr indent="0" marL="0">
              <a:lnSpc>
                <a:spcPct val="110000"/>
              </a:lnSpc>
              <a:buNone/>
            </a:pPr>
            <a:r>
              <a:rPr lang="en-US" sz="3400" b="1" dirty="0">
                <a:solidFill>
                  <a:srgbClr val="111315"/>
                </a:solidFill>
                <a:latin typeface="Arial" pitchFamily="34" charset="0"/>
                <a:ea typeface="Arial" pitchFamily="34" charset="-122"/>
                <a:cs typeface="Arial" pitchFamily="34" charset="-120"/>
              </a:rPr>
              <a:t>Everything in it.</a:t>
            </a:r>
            <a:endParaRPr lang="en-US" sz="3400" dirty="0"/>
          </a:p>
        </p:txBody>
      </p:sp>
      <p:sp>
        <p:nvSpPr>
          <p:cNvPr id="4" name="Text 2"/>
          <p:cNvSpPr/>
          <p:nvPr/>
        </p:nvSpPr>
        <p:spPr>
          <a:xfrm>
            <a:off x="640080" y="1783080"/>
            <a:ext cx="7772400" cy="731520"/>
          </a:xfrm>
          <a:prstGeom prst="rect">
            <a:avLst/>
          </a:prstGeom>
          <a:noFill/>
          <a:ln/>
        </p:spPr>
        <p:txBody>
          <a:bodyPr wrap="square" rtlCol="0" anchor="ctr"/>
          <a:lstStyle/>
          <a:p>
            <a:pPr indent="0" marL="0">
              <a:lnSpc>
                <a:spcPct val="150000"/>
              </a:lnSpc>
              <a:buNone/>
            </a:pPr>
            <a:r>
              <a:rPr lang="en-US" sz="1400" dirty="0">
                <a:solidFill>
                  <a:srgbClr val="888880"/>
                </a:solidFill>
                <a:latin typeface="Arial" pitchFamily="34" charset="0"/>
                <a:ea typeface="Arial" pitchFamily="34" charset="-122"/>
                <a:cs typeface="Arial" pitchFamily="34" charset="-120"/>
              </a:rPr>
              <a:t>Boardtivity is a visual, draggable workspace where tasks and ideas live side-by-side — and where AI helps you break work down and lock in to get it done.</a:t>
            </a:r>
            <a:endParaRPr lang="en-US" sz="1400" dirty="0"/>
          </a:p>
        </p:txBody>
      </p:sp>
      <p:sp>
        <p:nvSpPr>
          <p:cNvPr id="5" name="Shape 3"/>
          <p:cNvSpPr/>
          <p:nvPr/>
        </p:nvSpPr>
        <p:spPr>
          <a:xfrm>
            <a:off x="640080" y="2834640"/>
            <a:ext cx="5349240" cy="1371600"/>
          </a:xfrm>
          <a:prstGeom prst="roundRect">
            <a:avLst>
              <a:gd name="adj" fmla="val 8000"/>
            </a:avLst>
          </a:prstGeom>
          <a:solidFill>
            <a:srgbClr val="FFFFFF"/>
          </a:solidFill>
          <a:ln w="9525">
            <a:solidFill>
              <a:srgbClr val="E0DDD6"/>
            </a:solidFill>
            <a:prstDash val="solid"/>
          </a:ln>
        </p:spPr>
      </p:sp>
      <p:sp>
        <p:nvSpPr>
          <p:cNvPr id="6" name="Shape 4"/>
          <p:cNvSpPr/>
          <p:nvPr/>
        </p:nvSpPr>
        <p:spPr>
          <a:xfrm>
            <a:off x="822960" y="3090672"/>
            <a:ext cx="457200" cy="457200"/>
          </a:xfrm>
          <a:prstGeom prst="roundRect">
            <a:avLst>
              <a:gd name="adj" fmla="val 20000"/>
            </a:avLst>
          </a:prstGeom>
          <a:solidFill>
            <a:srgbClr val="E8F4FF"/>
          </a:solidFill>
          <a:ln w="12700">
            <a:solidFill>
              <a:srgbClr val="E0DDD6"/>
            </a:solidFill>
            <a:prstDash val="solid"/>
          </a:ln>
        </p:spPr>
      </p:sp>
      <p:sp>
        <p:nvSpPr>
          <p:cNvPr id="7" name="Text 5"/>
          <p:cNvSpPr/>
          <p:nvPr/>
        </p:nvSpPr>
        <p:spPr>
          <a:xfrm>
            <a:off x="832104" y="3090672"/>
            <a:ext cx="438912" cy="438912"/>
          </a:xfrm>
          <a:prstGeom prst="rect">
            <a:avLst/>
          </a:prstGeom>
          <a:noFill/>
          <a:ln/>
        </p:spPr>
        <p:txBody>
          <a:bodyPr wrap="square"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8" name="Text 6"/>
          <p:cNvSpPr/>
          <p:nvPr/>
        </p:nvSpPr>
        <p:spPr>
          <a:xfrm>
            <a:off x="1417320" y="3072384"/>
            <a:ext cx="4343400" cy="274320"/>
          </a:xfrm>
          <a:prstGeom prst="rect">
            <a:avLst/>
          </a:prstGeom>
          <a:noFill/>
          <a:ln/>
        </p:spPr>
        <p:txBody>
          <a:bodyPr wrap="square" rtlCol="0" anchor="ctr"/>
          <a:lstStyle/>
          <a:p>
            <a:pPr indent="0" marL="0">
              <a:buNone/>
            </a:pPr>
            <a:r>
              <a:rPr lang="en-US" sz="1300" b="1" dirty="0">
                <a:solidFill>
                  <a:srgbClr val="111315"/>
                </a:solidFill>
                <a:latin typeface="Arial" pitchFamily="34" charset="0"/>
                <a:ea typeface="Arial" pitchFamily="34" charset="-122"/>
                <a:cs typeface="Arial" pitchFamily="34" charset="-120"/>
              </a:rPr>
              <a:t>Task boards</a:t>
            </a:r>
            <a:endParaRPr lang="en-US" sz="1300" dirty="0"/>
          </a:p>
        </p:txBody>
      </p:sp>
      <p:sp>
        <p:nvSpPr>
          <p:cNvPr id="9" name="Text 7"/>
          <p:cNvSpPr/>
          <p:nvPr/>
        </p:nvSpPr>
        <p:spPr>
          <a:xfrm>
            <a:off x="1417320" y="3401568"/>
            <a:ext cx="4343400" cy="640080"/>
          </a:xfrm>
          <a:prstGeom prst="rect">
            <a:avLst/>
          </a:prstGeom>
          <a:noFill/>
          <a:ln/>
        </p:spPr>
        <p:txBody>
          <a:bodyPr wrap="square" rtlCol="0" anchor="ctr"/>
          <a:lstStyle/>
          <a:p>
            <a:pPr indent="0" marL="0">
              <a:lnSpc>
                <a:spcPct val="140000"/>
              </a:lnSpc>
              <a:buNone/>
            </a:pPr>
            <a:r>
              <a:rPr lang="en-US" sz="1100" dirty="0">
                <a:solidFill>
                  <a:srgbClr val="888880"/>
                </a:solidFill>
                <a:latin typeface="Arial" pitchFamily="34" charset="0"/>
                <a:ea typeface="Arial" pitchFamily="34" charset="-122"/>
                <a:cs typeface="Arial" pitchFamily="34" charset="-120"/>
              </a:rPr>
              <a:t>Add tasks with due dates, priorities, and subtasks. Drag them around a free-form canvas.</a:t>
            </a:r>
            <a:endParaRPr lang="en-US" sz="1100" dirty="0"/>
          </a:p>
        </p:txBody>
      </p:sp>
      <p:sp>
        <p:nvSpPr>
          <p:cNvPr id="10" name="Shape 8"/>
          <p:cNvSpPr/>
          <p:nvPr/>
        </p:nvSpPr>
        <p:spPr>
          <a:xfrm>
            <a:off x="6245352" y="2834640"/>
            <a:ext cx="5349240" cy="1371600"/>
          </a:xfrm>
          <a:prstGeom prst="roundRect">
            <a:avLst>
              <a:gd name="adj" fmla="val 8000"/>
            </a:avLst>
          </a:prstGeom>
          <a:solidFill>
            <a:srgbClr val="FFFFFF"/>
          </a:solidFill>
          <a:ln w="9525">
            <a:solidFill>
              <a:srgbClr val="E0DDD6"/>
            </a:solidFill>
            <a:prstDash val="solid"/>
          </a:ln>
        </p:spPr>
      </p:sp>
      <p:sp>
        <p:nvSpPr>
          <p:cNvPr id="11" name="Shape 9"/>
          <p:cNvSpPr/>
          <p:nvPr/>
        </p:nvSpPr>
        <p:spPr>
          <a:xfrm>
            <a:off x="6428232" y="3090672"/>
            <a:ext cx="457200" cy="457200"/>
          </a:xfrm>
          <a:prstGeom prst="roundRect">
            <a:avLst>
              <a:gd name="adj" fmla="val 20000"/>
            </a:avLst>
          </a:prstGeom>
          <a:solidFill>
            <a:srgbClr val="F0EBFF"/>
          </a:solidFill>
          <a:ln w="12700">
            <a:solidFill>
              <a:srgbClr val="E0DDD6"/>
            </a:solidFill>
            <a:prstDash val="solid"/>
          </a:ln>
        </p:spPr>
      </p:sp>
      <p:sp>
        <p:nvSpPr>
          <p:cNvPr id="12" name="Text 10"/>
          <p:cNvSpPr/>
          <p:nvPr/>
        </p:nvSpPr>
        <p:spPr>
          <a:xfrm>
            <a:off x="6437376" y="3090672"/>
            <a:ext cx="438912" cy="438912"/>
          </a:xfrm>
          <a:prstGeom prst="rect">
            <a:avLst/>
          </a:prstGeom>
          <a:noFill/>
          <a:ln/>
        </p:spPr>
        <p:txBody>
          <a:bodyPr wrap="square"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3" name="Text 11"/>
          <p:cNvSpPr/>
          <p:nvPr/>
        </p:nvSpPr>
        <p:spPr>
          <a:xfrm>
            <a:off x="7022592" y="3072384"/>
            <a:ext cx="4343400" cy="274320"/>
          </a:xfrm>
          <a:prstGeom prst="rect">
            <a:avLst/>
          </a:prstGeom>
          <a:noFill/>
          <a:ln/>
        </p:spPr>
        <p:txBody>
          <a:bodyPr wrap="square" rtlCol="0" anchor="ctr"/>
          <a:lstStyle/>
          <a:p>
            <a:pPr indent="0" marL="0">
              <a:buNone/>
            </a:pPr>
            <a:r>
              <a:rPr lang="en-US" sz="1300" b="1" dirty="0">
                <a:solidFill>
                  <a:srgbClr val="111315"/>
                </a:solidFill>
                <a:latin typeface="Arial" pitchFamily="34" charset="0"/>
                <a:ea typeface="Arial" pitchFamily="34" charset="-122"/>
                <a:cs typeface="Arial" pitchFamily="34" charset="-120"/>
              </a:rPr>
              <a:t>Idea boards</a:t>
            </a:r>
            <a:endParaRPr lang="en-US" sz="1300" dirty="0"/>
          </a:p>
        </p:txBody>
      </p:sp>
      <p:sp>
        <p:nvSpPr>
          <p:cNvPr id="14" name="Text 12"/>
          <p:cNvSpPr/>
          <p:nvPr/>
        </p:nvSpPr>
        <p:spPr>
          <a:xfrm>
            <a:off x="7022592" y="3401568"/>
            <a:ext cx="4343400" cy="640080"/>
          </a:xfrm>
          <a:prstGeom prst="rect">
            <a:avLst/>
          </a:prstGeom>
          <a:noFill/>
          <a:ln/>
        </p:spPr>
        <p:txBody>
          <a:bodyPr wrap="square" rtlCol="0" anchor="ctr"/>
          <a:lstStyle/>
          <a:p>
            <a:pPr indent="0" marL="0">
              <a:lnSpc>
                <a:spcPct val="140000"/>
              </a:lnSpc>
              <a:buNone/>
            </a:pPr>
            <a:r>
              <a:rPr lang="en-US" sz="1100" dirty="0">
                <a:solidFill>
                  <a:srgbClr val="888880"/>
                </a:solidFill>
                <a:latin typeface="Arial" pitchFamily="34" charset="0"/>
                <a:ea typeface="Arial" pitchFamily="34" charset="-122"/>
                <a:cs typeface="Arial" pitchFamily="34" charset="-120"/>
              </a:rPr>
              <a:t>Capture thoughts as colorful cards and connect them visually. Build a map of your thinking.</a:t>
            </a:r>
            <a:endParaRPr lang="en-US" sz="1100" dirty="0"/>
          </a:p>
        </p:txBody>
      </p:sp>
      <p:sp>
        <p:nvSpPr>
          <p:cNvPr id="15" name="Shape 13"/>
          <p:cNvSpPr/>
          <p:nvPr/>
        </p:nvSpPr>
        <p:spPr>
          <a:xfrm>
            <a:off x="640080" y="4370832"/>
            <a:ext cx="5349240" cy="1371600"/>
          </a:xfrm>
          <a:prstGeom prst="roundRect">
            <a:avLst>
              <a:gd name="adj" fmla="val 8000"/>
            </a:avLst>
          </a:prstGeom>
          <a:solidFill>
            <a:srgbClr val="FFFFFF"/>
          </a:solidFill>
          <a:ln w="9525">
            <a:solidFill>
              <a:srgbClr val="E0DDD6"/>
            </a:solidFill>
            <a:prstDash val="solid"/>
          </a:ln>
        </p:spPr>
      </p:sp>
      <p:sp>
        <p:nvSpPr>
          <p:cNvPr id="16" name="Shape 14"/>
          <p:cNvSpPr/>
          <p:nvPr/>
        </p:nvSpPr>
        <p:spPr>
          <a:xfrm>
            <a:off x="822960" y="4626864"/>
            <a:ext cx="457200" cy="457200"/>
          </a:xfrm>
          <a:prstGeom prst="roundRect">
            <a:avLst>
              <a:gd name="adj" fmla="val 20000"/>
            </a:avLst>
          </a:prstGeom>
          <a:solidFill>
            <a:srgbClr val="EAFFF0"/>
          </a:solidFill>
          <a:ln w="12700">
            <a:solidFill>
              <a:srgbClr val="E0DDD6"/>
            </a:solidFill>
            <a:prstDash val="solid"/>
          </a:ln>
        </p:spPr>
      </p:sp>
      <p:sp>
        <p:nvSpPr>
          <p:cNvPr id="17" name="Text 15"/>
          <p:cNvSpPr/>
          <p:nvPr/>
        </p:nvSpPr>
        <p:spPr>
          <a:xfrm>
            <a:off x="832104" y="4626864"/>
            <a:ext cx="438912" cy="438912"/>
          </a:xfrm>
          <a:prstGeom prst="rect">
            <a:avLst/>
          </a:prstGeom>
          <a:noFill/>
          <a:ln/>
        </p:spPr>
        <p:txBody>
          <a:bodyPr wrap="square"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8" name="Text 16"/>
          <p:cNvSpPr/>
          <p:nvPr/>
        </p:nvSpPr>
        <p:spPr>
          <a:xfrm>
            <a:off x="1417320" y="4608576"/>
            <a:ext cx="4343400" cy="274320"/>
          </a:xfrm>
          <a:prstGeom prst="rect">
            <a:avLst/>
          </a:prstGeom>
          <a:noFill/>
          <a:ln/>
        </p:spPr>
        <p:txBody>
          <a:bodyPr wrap="square" rtlCol="0" anchor="ctr"/>
          <a:lstStyle/>
          <a:p>
            <a:pPr indent="0" marL="0">
              <a:buNone/>
            </a:pPr>
            <a:r>
              <a:rPr lang="en-US" sz="1300" b="1" dirty="0">
                <a:solidFill>
                  <a:srgbClr val="111315"/>
                </a:solidFill>
                <a:latin typeface="Arial" pitchFamily="34" charset="0"/>
                <a:ea typeface="Arial" pitchFamily="34" charset="-122"/>
                <a:cs typeface="Arial" pitchFamily="34" charset="-120"/>
              </a:rPr>
              <a:t>Focus mode</a:t>
            </a:r>
            <a:endParaRPr lang="en-US" sz="1300" dirty="0"/>
          </a:p>
        </p:txBody>
      </p:sp>
      <p:sp>
        <p:nvSpPr>
          <p:cNvPr id="19" name="Text 17"/>
          <p:cNvSpPr/>
          <p:nvPr/>
        </p:nvSpPr>
        <p:spPr>
          <a:xfrm>
            <a:off x="1417320" y="4937760"/>
            <a:ext cx="4343400" cy="640080"/>
          </a:xfrm>
          <a:prstGeom prst="rect">
            <a:avLst/>
          </a:prstGeom>
          <a:noFill/>
          <a:ln/>
        </p:spPr>
        <p:txBody>
          <a:bodyPr wrap="square" rtlCol="0" anchor="ctr"/>
          <a:lstStyle/>
          <a:p>
            <a:pPr indent="0" marL="0">
              <a:lnSpc>
                <a:spcPct val="140000"/>
              </a:lnSpc>
              <a:buNone/>
            </a:pPr>
            <a:r>
              <a:rPr lang="en-US" sz="1100" dirty="0">
                <a:solidFill>
                  <a:srgbClr val="888880"/>
                </a:solidFill>
                <a:latin typeface="Arial" pitchFamily="34" charset="0"/>
                <a:ea typeface="Arial" pitchFamily="34" charset="-122"/>
                <a:cs typeface="Arial" pitchFamily="34" charset="-120"/>
              </a:rPr>
              <a:t>A fullscreen countdown timer locks you into one task. No distractions. Just the work.</a:t>
            </a:r>
            <a:endParaRPr lang="en-US" sz="1100" dirty="0"/>
          </a:p>
        </p:txBody>
      </p:sp>
      <p:sp>
        <p:nvSpPr>
          <p:cNvPr id="20" name="Shape 18"/>
          <p:cNvSpPr/>
          <p:nvPr/>
        </p:nvSpPr>
        <p:spPr>
          <a:xfrm>
            <a:off x="6245352" y="4370832"/>
            <a:ext cx="5349240" cy="1371600"/>
          </a:xfrm>
          <a:prstGeom prst="roundRect">
            <a:avLst>
              <a:gd name="adj" fmla="val 8000"/>
            </a:avLst>
          </a:prstGeom>
          <a:solidFill>
            <a:srgbClr val="FFFFFF"/>
          </a:solidFill>
          <a:ln w="9525">
            <a:solidFill>
              <a:srgbClr val="E0DDD6"/>
            </a:solidFill>
            <a:prstDash val="solid"/>
          </a:ln>
        </p:spPr>
      </p:sp>
      <p:sp>
        <p:nvSpPr>
          <p:cNvPr id="21" name="Shape 19"/>
          <p:cNvSpPr/>
          <p:nvPr/>
        </p:nvSpPr>
        <p:spPr>
          <a:xfrm>
            <a:off x="6428232" y="4626864"/>
            <a:ext cx="457200" cy="457200"/>
          </a:xfrm>
          <a:prstGeom prst="roundRect">
            <a:avLst>
              <a:gd name="adj" fmla="val 20000"/>
            </a:avLst>
          </a:prstGeom>
          <a:solidFill>
            <a:srgbClr val="FFF5E8"/>
          </a:solidFill>
          <a:ln w="12700">
            <a:solidFill>
              <a:srgbClr val="E0DDD6"/>
            </a:solidFill>
            <a:prstDash val="solid"/>
          </a:ln>
        </p:spPr>
      </p:sp>
      <p:sp>
        <p:nvSpPr>
          <p:cNvPr id="22" name="Text 20"/>
          <p:cNvSpPr/>
          <p:nvPr/>
        </p:nvSpPr>
        <p:spPr>
          <a:xfrm>
            <a:off x="6437376" y="4626864"/>
            <a:ext cx="438912" cy="438912"/>
          </a:xfrm>
          <a:prstGeom prst="rect">
            <a:avLst/>
          </a:prstGeom>
          <a:noFill/>
          <a:ln/>
        </p:spPr>
        <p:txBody>
          <a:bodyPr wrap="square"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23" name="Text 21"/>
          <p:cNvSpPr/>
          <p:nvPr/>
        </p:nvSpPr>
        <p:spPr>
          <a:xfrm>
            <a:off x="7022592" y="4608576"/>
            <a:ext cx="4343400" cy="274320"/>
          </a:xfrm>
          <a:prstGeom prst="rect">
            <a:avLst/>
          </a:prstGeom>
          <a:noFill/>
          <a:ln/>
        </p:spPr>
        <p:txBody>
          <a:bodyPr wrap="square" rtlCol="0" anchor="ctr"/>
          <a:lstStyle/>
          <a:p>
            <a:pPr indent="0" marL="0">
              <a:buNone/>
            </a:pPr>
            <a:r>
              <a:rPr lang="en-US" sz="1300" b="1" dirty="0">
                <a:solidFill>
                  <a:srgbClr val="111315"/>
                </a:solidFill>
                <a:latin typeface="Arial" pitchFamily="34" charset="0"/>
                <a:ea typeface="Arial" pitchFamily="34" charset="-122"/>
                <a:cs typeface="Arial" pitchFamily="34" charset="-120"/>
              </a:rPr>
              <a:t>Cross-device sync</a:t>
            </a:r>
            <a:endParaRPr lang="en-US" sz="1300" dirty="0"/>
          </a:p>
        </p:txBody>
      </p:sp>
      <p:sp>
        <p:nvSpPr>
          <p:cNvPr id="24" name="Text 22"/>
          <p:cNvSpPr/>
          <p:nvPr/>
        </p:nvSpPr>
        <p:spPr>
          <a:xfrm>
            <a:off x="7022592" y="4937760"/>
            <a:ext cx="4343400" cy="640080"/>
          </a:xfrm>
          <a:prstGeom prst="rect">
            <a:avLst/>
          </a:prstGeom>
          <a:noFill/>
          <a:ln/>
        </p:spPr>
        <p:txBody>
          <a:bodyPr wrap="square" rtlCol="0" anchor="ctr"/>
          <a:lstStyle/>
          <a:p>
            <a:pPr indent="0" marL="0">
              <a:lnSpc>
                <a:spcPct val="140000"/>
              </a:lnSpc>
              <a:buNone/>
            </a:pPr>
            <a:r>
              <a:rPr lang="en-US" sz="1100" dirty="0">
                <a:solidFill>
                  <a:srgbClr val="888880"/>
                </a:solidFill>
                <a:latin typeface="Arial" pitchFamily="34" charset="0"/>
                <a:ea typeface="Arial" pitchFamily="34" charset="-122"/>
                <a:cs typeface="Arial" pitchFamily="34" charset="-120"/>
              </a:rPr>
              <a:t>Your boards are automatically saved and synced in real time. Pick up on any device.</a:t>
            </a:r>
            <a:endParaRPr lang="en-US" sz="1100" dirty="0"/>
          </a:p>
        </p:txBody>
      </p:sp>
      <p:sp>
        <p:nvSpPr>
          <p:cNvPr id="25" name="Text 23"/>
          <p:cNvSpPr/>
          <p:nvPr/>
        </p:nvSpPr>
        <p:spPr>
          <a:xfrm>
            <a:off x="11000232" y="6446520"/>
            <a:ext cx="914400" cy="274320"/>
          </a:xfrm>
          <a:prstGeom prst="rect">
            <a:avLst/>
          </a:prstGeom>
          <a:noFill/>
          <a:ln/>
        </p:spPr>
        <p:txBody>
          <a:bodyPr wrap="square" rtlCol="0" anchor="ctr"/>
          <a:lstStyle/>
          <a:p>
            <a:pPr algn="r" indent="0" marL="0">
              <a:buNone/>
            </a:pPr>
            <a:r>
              <a:rPr lang="en-US" sz="900" dirty="0">
                <a:solidFill>
                  <a:srgbClr val="888880"/>
                </a:solidFill>
                <a:latin typeface="Arial" pitchFamily="34" charset="0"/>
                <a:ea typeface="Arial" pitchFamily="34" charset="-122"/>
                <a:cs typeface="Arial" pitchFamily="34" charset="-120"/>
              </a:rPr>
              <a:t>03 / 09</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1EB"/>
        </a:solidFill>
      </p:bgPr>
    </p:bg>
    <p:spTree>
      <p:nvGrpSpPr>
        <p:cNvPr id="1" name=""/>
        <p:cNvGrpSpPr/>
        <p:nvPr/>
      </p:nvGrpSpPr>
      <p:grpSpPr>
        <a:xfrm>
          <a:off x="0" y="0"/>
          <a:ext cx="0" cy="0"/>
          <a:chOff x="0" y="0"/>
          <a:chExt cx="0" cy="0"/>
        </a:xfrm>
      </p:grpSpPr>
      <p:sp>
        <p:nvSpPr>
          <p:cNvPr id="2" name="Text 0"/>
          <p:cNvSpPr/>
          <p:nvPr/>
        </p:nvSpPr>
        <p:spPr>
          <a:xfrm>
            <a:off x="640080" y="502920"/>
            <a:ext cx="10908792" cy="201168"/>
          </a:xfrm>
          <a:prstGeom prst="rect">
            <a:avLst/>
          </a:prstGeom>
          <a:noFill/>
          <a:ln/>
        </p:spPr>
        <p:txBody>
          <a:bodyPr wrap="square" rtlCol="0" anchor="ctr"/>
          <a:lstStyle/>
          <a:p>
            <a:pPr indent="0" marL="0">
              <a:buNone/>
            </a:pPr>
            <a:r>
              <a:rPr lang="en-US" sz="900" b="1" spc="200" kern="0" dirty="0">
                <a:solidFill>
                  <a:srgbClr val="888880"/>
                </a:solidFill>
                <a:latin typeface="Arial" pitchFamily="34" charset="0"/>
                <a:ea typeface="Arial" pitchFamily="34" charset="-122"/>
                <a:cs typeface="Arial" pitchFamily="34" charset="-120"/>
              </a:rPr>
              <a:t>PRODUCT</a:t>
            </a:r>
            <a:endParaRPr lang="en-US" sz="900" dirty="0"/>
          </a:p>
        </p:txBody>
      </p:sp>
      <p:sp>
        <p:nvSpPr>
          <p:cNvPr id="3" name="Text 1"/>
          <p:cNvSpPr/>
          <p:nvPr/>
        </p:nvSpPr>
        <p:spPr>
          <a:xfrm>
            <a:off x="640080" y="685800"/>
            <a:ext cx="10908792" cy="1463040"/>
          </a:xfrm>
          <a:prstGeom prst="rect">
            <a:avLst/>
          </a:prstGeom>
          <a:noFill/>
          <a:ln/>
        </p:spPr>
        <p:txBody>
          <a:bodyPr wrap="square" rtlCol="0" anchor="ctr"/>
          <a:lstStyle/>
          <a:p>
            <a:pPr indent="0" marL="0">
              <a:lnSpc>
                <a:spcPct val="110000"/>
              </a:lnSpc>
              <a:buNone/>
            </a:pPr>
            <a:r>
              <a:rPr lang="en-US" sz="3400" b="1" dirty="0">
                <a:solidFill>
                  <a:srgbClr val="111315"/>
                </a:solidFill>
                <a:latin typeface="Arial" pitchFamily="34" charset="0"/>
                <a:ea typeface="Arial" pitchFamily="34" charset="-122"/>
                <a:cs typeface="Arial" pitchFamily="34" charset="-120"/>
              </a:rPr>
              <a:t>Built around how</a:t>
            </a:r>
            <a:endParaRPr lang="en-US" sz="3400" dirty="0"/>
          </a:p>
          <a:p>
            <a:pPr indent="0" marL="0">
              <a:lnSpc>
                <a:spcPct val="110000"/>
              </a:lnSpc>
              <a:buNone/>
            </a:pPr>
            <a:r>
              <a:rPr lang="en-US" sz="3400" b="1" dirty="0">
                <a:solidFill>
                  <a:srgbClr val="111315"/>
                </a:solidFill>
                <a:latin typeface="Arial" pitchFamily="34" charset="0"/>
                <a:ea typeface="Arial" pitchFamily="34" charset="-122"/>
                <a:cs typeface="Arial" pitchFamily="34" charset="-120"/>
              </a:rPr>
              <a:t>you actually think.</a:t>
            </a:r>
            <a:endParaRPr lang="en-US" sz="3400" dirty="0"/>
          </a:p>
        </p:txBody>
      </p:sp>
      <p:sp>
        <p:nvSpPr>
          <p:cNvPr id="4" name="Shape 2"/>
          <p:cNvSpPr/>
          <p:nvPr/>
        </p:nvSpPr>
        <p:spPr>
          <a:xfrm>
            <a:off x="640080" y="1828800"/>
            <a:ext cx="5349240" cy="2331720"/>
          </a:xfrm>
          <a:prstGeom prst="roundRect">
            <a:avLst>
              <a:gd name="adj" fmla="val 4706"/>
            </a:avLst>
          </a:prstGeom>
          <a:solidFill>
            <a:srgbClr val="FFFFFF"/>
          </a:solidFill>
          <a:ln w="9525">
            <a:solidFill>
              <a:srgbClr val="E0DDD6"/>
            </a:solidFill>
            <a:prstDash val="solid"/>
          </a:ln>
        </p:spPr>
      </p:sp>
      <p:sp>
        <p:nvSpPr>
          <p:cNvPr id="5" name="Shape 3"/>
          <p:cNvSpPr/>
          <p:nvPr/>
        </p:nvSpPr>
        <p:spPr>
          <a:xfrm>
            <a:off x="822960" y="2011680"/>
            <a:ext cx="1097280" cy="237744"/>
          </a:xfrm>
          <a:prstGeom prst="roundRect">
            <a:avLst>
              <a:gd name="adj" fmla="val 50000"/>
            </a:avLst>
          </a:prstGeom>
          <a:solidFill>
            <a:srgbClr val="E8F4FF"/>
          </a:solidFill>
          <a:ln w="12700">
            <a:solidFill>
              <a:srgbClr val="E0DDD6"/>
            </a:solidFill>
            <a:prstDash val="solid"/>
          </a:ln>
        </p:spPr>
      </p:sp>
      <p:sp>
        <p:nvSpPr>
          <p:cNvPr id="6" name="Text 4"/>
          <p:cNvSpPr/>
          <p:nvPr/>
        </p:nvSpPr>
        <p:spPr>
          <a:xfrm>
            <a:off x="822960" y="2011680"/>
            <a:ext cx="1097280" cy="237744"/>
          </a:xfrm>
          <a:prstGeom prst="rect">
            <a:avLst/>
          </a:prstGeom>
          <a:noFill/>
          <a:ln/>
        </p:spPr>
        <p:txBody>
          <a:bodyPr wrap="square" rtlCol="0" anchor="ctr"/>
          <a:lstStyle/>
          <a:p>
            <a:pPr algn="ctr" indent="0" marL="0">
              <a:buNone/>
            </a:pPr>
            <a:r>
              <a:rPr lang="en-US" sz="800" b="1" dirty="0">
                <a:solidFill>
                  <a:srgbClr val="3060C0"/>
                </a:solidFill>
                <a:latin typeface="Arial" pitchFamily="34" charset="0"/>
                <a:ea typeface="Arial" pitchFamily="34" charset="-122"/>
                <a:cs typeface="Arial" pitchFamily="34" charset="-120"/>
              </a:rPr>
              <a:t>Task Board</a:t>
            </a:r>
            <a:endParaRPr lang="en-US" sz="800" dirty="0"/>
          </a:p>
        </p:txBody>
      </p:sp>
      <p:sp>
        <p:nvSpPr>
          <p:cNvPr id="7" name="Text 5"/>
          <p:cNvSpPr/>
          <p:nvPr/>
        </p:nvSpPr>
        <p:spPr>
          <a:xfrm>
            <a:off x="822960" y="2322576"/>
            <a:ext cx="4983480" cy="274320"/>
          </a:xfrm>
          <a:prstGeom prst="rect">
            <a:avLst/>
          </a:prstGeom>
          <a:noFill/>
          <a:ln/>
        </p:spPr>
        <p:txBody>
          <a:bodyPr wrap="square" rtlCol="0" anchor="ctr"/>
          <a:lstStyle/>
          <a:p>
            <a:pPr indent="0" marL="0">
              <a:buNone/>
            </a:pPr>
            <a:r>
              <a:rPr lang="en-US" sz="1300" b="1" dirty="0">
                <a:solidFill>
                  <a:srgbClr val="111315"/>
                </a:solidFill>
                <a:latin typeface="Arial" pitchFamily="34" charset="0"/>
                <a:ea typeface="Arial" pitchFamily="34" charset="-122"/>
                <a:cs typeface="Arial" pitchFamily="34" charset="-120"/>
              </a:rPr>
              <a:t>Structure your work</a:t>
            </a:r>
            <a:endParaRPr lang="en-US" sz="1300" dirty="0"/>
          </a:p>
        </p:txBody>
      </p:sp>
      <p:sp>
        <p:nvSpPr>
          <p:cNvPr id="8" name="Text 6"/>
          <p:cNvSpPr/>
          <p:nvPr/>
        </p:nvSpPr>
        <p:spPr>
          <a:xfrm>
            <a:off x="822960" y="2688336"/>
            <a:ext cx="4983480" cy="274320"/>
          </a:xfrm>
          <a:prstGeom prst="rect">
            <a:avLst/>
          </a:prstGeom>
          <a:noFill/>
          <a:ln/>
        </p:spPr>
        <p:txBody>
          <a:bodyPr wrap="square" rtlCol="0" anchor="ctr"/>
          <a:lstStyle/>
          <a:p>
            <a:pPr indent="0" marL="0">
              <a:buNone/>
            </a:pPr>
            <a:r>
              <a:rPr lang="en-US" sz="1050" dirty="0">
                <a:solidFill>
                  <a:srgbClr val="888880"/>
                </a:solidFill>
                <a:latin typeface="Arial" pitchFamily="34" charset="0"/>
                <a:ea typeface="Arial" pitchFamily="34" charset="-122"/>
                <a:cs typeface="Arial" pitchFamily="34" charset="-120"/>
              </a:rPr>
              <a:t>→  Due dates, priorities, subtask breakdown</a:t>
            </a:r>
            <a:endParaRPr lang="en-US" sz="1050" dirty="0"/>
          </a:p>
        </p:txBody>
      </p:sp>
      <p:sp>
        <p:nvSpPr>
          <p:cNvPr id="9" name="Text 7"/>
          <p:cNvSpPr/>
          <p:nvPr/>
        </p:nvSpPr>
        <p:spPr>
          <a:xfrm>
            <a:off x="822960" y="3017520"/>
            <a:ext cx="4983480" cy="274320"/>
          </a:xfrm>
          <a:prstGeom prst="rect">
            <a:avLst/>
          </a:prstGeom>
          <a:noFill/>
          <a:ln/>
        </p:spPr>
        <p:txBody>
          <a:bodyPr wrap="square" rtlCol="0" anchor="ctr"/>
          <a:lstStyle/>
          <a:p>
            <a:pPr indent="0" marL="0">
              <a:buNone/>
            </a:pPr>
            <a:r>
              <a:rPr lang="en-US" sz="1050" dirty="0">
                <a:solidFill>
                  <a:srgbClr val="888880"/>
                </a:solidFill>
                <a:latin typeface="Arial" pitchFamily="34" charset="0"/>
                <a:ea typeface="Arial" pitchFamily="34" charset="-122"/>
                <a:cs typeface="Arial" pitchFamily="34" charset="-120"/>
              </a:rPr>
              <a:t>→  Drag-and-drop canvas layout</a:t>
            </a:r>
            <a:endParaRPr lang="en-US" sz="1050" dirty="0"/>
          </a:p>
        </p:txBody>
      </p:sp>
      <p:sp>
        <p:nvSpPr>
          <p:cNvPr id="10" name="Text 8"/>
          <p:cNvSpPr/>
          <p:nvPr/>
        </p:nvSpPr>
        <p:spPr>
          <a:xfrm>
            <a:off x="822960" y="3346704"/>
            <a:ext cx="4983480" cy="274320"/>
          </a:xfrm>
          <a:prstGeom prst="rect">
            <a:avLst/>
          </a:prstGeom>
          <a:noFill/>
          <a:ln/>
        </p:spPr>
        <p:txBody>
          <a:bodyPr wrap="square" rtlCol="0" anchor="ctr"/>
          <a:lstStyle/>
          <a:p>
            <a:pPr indent="0" marL="0">
              <a:buNone/>
            </a:pPr>
            <a:r>
              <a:rPr lang="en-US" sz="1050" dirty="0">
                <a:solidFill>
                  <a:srgbClr val="888880"/>
                </a:solidFill>
                <a:latin typeface="Arial" pitchFamily="34" charset="0"/>
                <a:ea typeface="Arial" pitchFamily="34" charset="-122"/>
                <a:cs typeface="Arial" pitchFamily="34" charset="-120"/>
              </a:rPr>
              <a:t>→  Priority color coding (Low/Med/High)</a:t>
            </a:r>
            <a:endParaRPr lang="en-US" sz="1050" dirty="0"/>
          </a:p>
        </p:txBody>
      </p:sp>
      <p:sp>
        <p:nvSpPr>
          <p:cNvPr id="11" name="Text 9"/>
          <p:cNvSpPr/>
          <p:nvPr/>
        </p:nvSpPr>
        <p:spPr>
          <a:xfrm>
            <a:off x="822960" y="3675888"/>
            <a:ext cx="4983480" cy="274320"/>
          </a:xfrm>
          <a:prstGeom prst="rect">
            <a:avLst/>
          </a:prstGeom>
          <a:noFill/>
          <a:ln/>
        </p:spPr>
        <p:txBody>
          <a:bodyPr wrap="square" rtlCol="0" anchor="ctr"/>
          <a:lstStyle/>
          <a:p>
            <a:pPr indent="0" marL="0">
              <a:buNone/>
            </a:pPr>
            <a:r>
              <a:rPr lang="en-US" sz="1050" dirty="0">
                <a:solidFill>
                  <a:srgbClr val="888880"/>
                </a:solidFill>
                <a:latin typeface="Arial" pitchFamily="34" charset="0"/>
                <a:ea typeface="Arial" pitchFamily="34" charset="-122"/>
                <a:cs typeface="Arial" pitchFamily="34" charset="-120"/>
              </a:rPr>
              <a:t>→  Progress tracking per task</a:t>
            </a:r>
            <a:endParaRPr lang="en-US" sz="1050" dirty="0"/>
          </a:p>
        </p:txBody>
      </p:sp>
      <p:sp>
        <p:nvSpPr>
          <p:cNvPr id="12" name="Shape 10"/>
          <p:cNvSpPr/>
          <p:nvPr/>
        </p:nvSpPr>
        <p:spPr>
          <a:xfrm>
            <a:off x="6245352" y="1828800"/>
            <a:ext cx="5349240" cy="2331720"/>
          </a:xfrm>
          <a:prstGeom prst="roundRect">
            <a:avLst>
              <a:gd name="adj" fmla="val 4706"/>
            </a:avLst>
          </a:prstGeom>
          <a:solidFill>
            <a:srgbClr val="FFFFFF"/>
          </a:solidFill>
          <a:ln w="9525">
            <a:solidFill>
              <a:srgbClr val="E0DDD6"/>
            </a:solidFill>
            <a:prstDash val="solid"/>
          </a:ln>
        </p:spPr>
      </p:sp>
      <p:sp>
        <p:nvSpPr>
          <p:cNvPr id="13" name="Shape 11"/>
          <p:cNvSpPr/>
          <p:nvPr/>
        </p:nvSpPr>
        <p:spPr>
          <a:xfrm>
            <a:off x="6428232" y="2011680"/>
            <a:ext cx="1097280" cy="237744"/>
          </a:xfrm>
          <a:prstGeom prst="roundRect">
            <a:avLst>
              <a:gd name="adj" fmla="val 50000"/>
            </a:avLst>
          </a:prstGeom>
          <a:solidFill>
            <a:srgbClr val="F0EBFF"/>
          </a:solidFill>
          <a:ln w="12700">
            <a:solidFill>
              <a:srgbClr val="E0DDD6"/>
            </a:solidFill>
            <a:prstDash val="solid"/>
          </a:ln>
        </p:spPr>
      </p:sp>
      <p:sp>
        <p:nvSpPr>
          <p:cNvPr id="14" name="Text 12"/>
          <p:cNvSpPr/>
          <p:nvPr/>
        </p:nvSpPr>
        <p:spPr>
          <a:xfrm>
            <a:off x="6428232" y="2011680"/>
            <a:ext cx="1097280" cy="237744"/>
          </a:xfrm>
          <a:prstGeom prst="rect">
            <a:avLst/>
          </a:prstGeom>
          <a:noFill/>
          <a:ln/>
        </p:spPr>
        <p:txBody>
          <a:bodyPr wrap="square" rtlCol="0" anchor="ctr"/>
          <a:lstStyle/>
          <a:p>
            <a:pPr algn="ctr" indent="0" marL="0">
              <a:buNone/>
            </a:pPr>
            <a:r>
              <a:rPr lang="en-US" sz="800" b="1" dirty="0">
                <a:solidFill>
                  <a:srgbClr val="6A3EC2"/>
                </a:solidFill>
                <a:latin typeface="Arial" pitchFamily="34" charset="0"/>
                <a:ea typeface="Arial" pitchFamily="34" charset="-122"/>
                <a:cs typeface="Arial" pitchFamily="34" charset="-120"/>
              </a:rPr>
              <a:t>Idea Board</a:t>
            </a:r>
            <a:endParaRPr lang="en-US" sz="800" dirty="0"/>
          </a:p>
        </p:txBody>
      </p:sp>
      <p:sp>
        <p:nvSpPr>
          <p:cNvPr id="15" name="Text 13"/>
          <p:cNvSpPr/>
          <p:nvPr/>
        </p:nvSpPr>
        <p:spPr>
          <a:xfrm>
            <a:off x="6428232" y="2322576"/>
            <a:ext cx="4983480" cy="274320"/>
          </a:xfrm>
          <a:prstGeom prst="rect">
            <a:avLst/>
          </a:prstGeom>
          <a:noFill/>
          <a:ln/>
        </p:spPr>
        <p:txBody>
          <a:bodyPr wrap="square" rtlCol="0" anchor="ctr"/>
          <a:lstStyle/>
          <a:p>
            <a:pPr indent="0" marL="0">
              <a:buNone/>
            </a:pPr>
            <a:r>
              <a:rPr lang="en-US" sz="1300" b="1" dirty="0">
                <a:solidFill>
                  <a:srgbClr val="111315"/>
                </a:solidFill>
                <a:latin typeface="Arial" pitchFamily="34" charset="0"/>
                <a:ea typeface="Arial" pitchFamily="34" charset="-122"/>
                <a:cs typeface="Arial" pitchFamily="34" charset="-120"/>
              </a:rPr>
              <a:t>Capture your thinking</a:t>
            </a:r>
            <a:endParaRPr lang="en-US" sz="1300" dirty="0"/>
          </a:p>
        </p:txBody>
      </p:sp>
      <p:sp>
        <p:nvSpPr>
          <p:cNvPr id="16" name="Text 14"/>
          <p:cNvSpPr/>
          <p:nvPr/>
        </p:nvSpPr>
        <p:spPr>
          <a:xfrm>
            <a:off x="6428232" y="2688336"/>
            <a:ext cx="4983480" cy="274320"/>
          </a:xfrm>
          <a:prstGeom prst="rect">
            <a:avLst/>
          </a:prstGeom>
          <a:noFill/>
          <a:ln/>
        </p:spPr>
        <p:txBody>
          <a:bodyPr wrap="square" rtlCol="0" anchor="ctr"/>
          <a:lstStyle/>
          <a:p>
            <a:pPr indent="0" marL="0">
              <a:buNone/>
            </a:pPr>
            <a:r>
              <a:rPr lang="en-US" sz="1050" dirty="0">
                <a:solidFill>
                  <a:srgbClr val="888880"/>
                </a:solidFill>
                <a:latin typeface="Arial" pitchFamily="34" charset="0"/>
                <a:ea typeface="Arial" pitchFamily="34" charset="-122"/>
                <a:cs typeface="Arial" pitchFamily="34" charset="-120"/>
              </a:rPr>
              <a:t>→  Colorful sticky-style cards</a:t>
            </a:r>
            <a:endParaRPr lang="en-US" sz="1050" dirty="0"/>
          </a:p>
        </p:txBody>
      </p:sp>
      <p:sp>
        <p:nvSpPr>
          <p:cNvPr id="17" name="Text 15"/>
          <p:cNvSpPr/>
          <p:nvPr/>
        </p:nvSpPr>
        <p:spPr>
          <a:xfrm>
            <a:off x="6428232" y="3017520"/>
            <a:ext cx="4983480" cy="274320"/>
          </a:xfrm>
          <a:prstGeom prst="rect">
            <a:avLst/>
          </a:prstGeom>
          <a:noFill/>
          <a:ln/>
        </p:spPr>
        <p:txBody>
          <a:bodyPr wrap="square" rtlCol="0" anchor="ctr"/>
          <a:lstStyle/>
          <a:p>
            <a:pPr indent="0" marL="0">
              <a:buNone/>
            </a:pPr>
            <a:r>
              <a:rPr lang="en-US" sz="1050" dirty="0">
                <a:solidFill>
                  <a:srgbClr val="888880"/>
                </a:solidFill>
                <a:latin typeface="Arial" pitchFamily="34" charset="0"/>
                <a:ea typeface="Arial" pitchFamily="34" charset="-122"/>
                <a:cs typeface="Arial" pitchFamily="34" charset="-120"/>
              </a:rPr>
              <a:t>→  Drag-to-link visual connections</a:t>
            </a:r>
            <a:endParaRPr lang="en-US" sz="1050" dirty="0"/>
          </a:p>
        </p:txBody>
      </p:sp>
      <p:sp>
        <p:nvSpPr>
          <p:cNvPr id="18" name="Text 16"/>
          <p:cNvSpPr/>
          <p:nvPr/>
        </p:nvSpPr>
        <p:spPr>
          <a:xfrm>
            <a:off x="6428232" y="3346704"/>
            <a:ext cx="4983480" cy="274320"/>
          </a:xfrm>
          <a:prstGeom prst="rect">
            <a:avLst/>
          </a:prstGeom>
          <a:noFill/>
          <a:ln/>
        </p:spPr>
        <p:txBody>
          <a:bodyPr wrap="square" rtlCol="0" anchor="ctr"/>
          <a:lstStyle/>
          <a:p>
            <a:pPr indent="0" marL="0">
              <a:buNone/>
            </a:pPr>
            <a:r>
              <a:rPr lang="en-US" sz="1050" dirty="0">
                <a:solidFill>
                  <a:srgbClr val="888880"/>
                </a:solidFill>
                <a:latin typeface="Arial" pitchFamily="34" charset="0"/>
                <a:ea typeface="Arial" pitchFamily="34" charset="-122"/>
                <a:cs typeface="Arial" pitchFamily="34" charset="-120"/>
              </a:rPr>
              <a:t>→  Hover-to-unlink interactions</a:t>
            </a:r>
            <a:endParaRPr lang="en-US" sz="1050" dirty="0"/>
          </a:p>
        </p:txBody>
      </p:sp>
      <p:sp>
        <p:nvSpPr>
          <p:cNvPr id="19" name="Text 17"/>
          <p:cNvSpPr/>
          <p:nvPr/>
        </p:nvSpPr>
        <p:spPr>
          <a:xfrm>
            <a:off x="6428232" y="3675888"/>
            <a:ext cx="4983480" cy="274320"/>
          </a:xfrm>
          <a:prstGeom prst="rect">
            <a:avLst/>
          </a:prstGeom>
          <a:noFill/>
          <a:ln/>
        </p:spPr>
        <p:txBody>
          <a:bodyPr wrap="square" rtlCol="0" anchor="ctr"/>
          <a:lstStyle/>
          <a:p>
            <a:pPr indent="0" marL="0">
              <a:buNone/>
            </a:pPr>
            <a:r>
              <a:rPr lang="en-US" sz="1050" dirty="0">
                <a:solidFill>
                  <a:srgbClr val="888880"/>
                </a:solidFill>
                <a:latin typeface="Arial" pitchFamily="34" charset="0"/>
                <a:ea typeface="Arial" pitchFamily="34" charset="-122"/>
                <a:cs typeface="Arial" pitchFamily="34" charset="-120"/>
              </a:rPr>
              <a:t>→  Per-board color palettes</a:t>
            </a:r>
            <a:endParaRPr lang="en-US" sz="1050" dirty="0"/>
          </a:p>
        </p:txBody>
      </p:sp>
      <p:sp>
        <p:nvSpPr>
          <p:cNvPr id="20" name="Shape 18"/>
          <p:cNvSpPr/>
          <p:nvPr/>
        </p:nvSpPr>
        <p:spPr>
          <a:xfrm>
            <a:off x="640080" y="4325112"/>
            <a:ext cx="5349240" cy="2331720"/>
          </a:xfrm>
          <a:prstGeom prst="roundRect">
            <a:avLst>
              <a:gd name="adj" fmla="val 4706"/>
            </a:avLst>
          </a:prstGeom>
          <a:solidFill>
            <a:srgbClr val="FFFFFF"/>
          </a:solidFill>
          <a:ln w="9525">
            <a:solidFill>
              <a:srgbClr val="E0DDD6"/>
            </a:solidFill>
            <a:prstDash val="solid"/>
          </a:ln>
        </p:spPr>
      </p:sp>
      <p:sp>
        <p:nvSpPr>
          <p:cNvPr id="21" name="Shape 19"/>
          <p:cNvSpPr/>
          <p:nvPr/>
        </p:nvSpPr>
        <p:spPr>
          <a:xfrm>
            <a:off x="822960" y="4507992"/>
            <a:ext cx="1097280" cy="237744"/>
          </a:xfrm>
          <a:prstGeom prst="roundRect">
            <a:avLst>
              <a:gd name="adj" fmla="val 50000"/>
            </a:avLst>
          </a:prstGeom>
          <a:solidFill>
            <a:srgbClr val="EAFFF0"/>
          </a:solidFill>
          <a:ln w="12700">
            <a:solidFill>
              <a:srgbClr val="E0DDD6"/>
            </a:solidFill>
            <a:prstDash val="solid"/>
          </a:ln>
        </p:spPr>
      </p:sp>
      <p:sp>
        <p:nvSpPr>
          <p:cNvPr id="22" name="Text 20"/>
          <p:cNvSpPr/>
          <p:nvPr/>
        </p:nvSpPr>
        <p:spPr>
          <a:xfrm>
            <a:off x="822960" y="4507992"/>
            <a:ext cx="1097280" cy="237744"/>
          </a:xfrm>
          <a:prstGeom prst="rect">
            <a:avLst/>
          </a:prstGeom>
          <a:noFill/>
          <a:ln/>
        </p:spPr>
        <p:txBody>
          <a:bodyPr wrap="square" rtlCol="0" anchor="ctr"/>
          <a:lstStyle/>
          <a:p>
            <a:pPr algn="ctr" indent="0" marL="0">
              <a:buNone/>
            </a:pPr>
            <a:r>
              <a:rPr lang="en-US" sz="800" b="1" dirty="0">
                <a:solidFill>
                  <a:srgbClr val="256838"/>
                </a:solidFill>
                <a:latin typeface="Arial" pitchFamily="34" charset="0"/>
                <a:ea typeface="Arial" pitchFamily="34" charset="-122"/>
                <a:cs typeface="Arial" pitchFamily="34" charset="-120"/>
              </a:rPr>
              <a:t>Focus Mode</a:t>
            </a:r>
            <a:endParaRPr lang="en-US" sz="800" dirty="0"/>
          </a:p>
        </p:txBody>
      </p:sp>
      <p:sp>
        <p:nvSpPr>
          <p:cNvPr id="23" name="Text 21"/>
          <p:cNvSpPr/>
          <p:nvPr/>
        </p:nvSpPr>
        <p:spPr>
          <a:xfrm>
            <a:off x="822960" y="4818888"/>
            <a:ext cx="4983480" cy="274320"/>
          </a:xfrm>
          <a:prstGeom prst="rect">
            <a:avLst/>
          </a:prstGeom>
          <a:noFill/>
          <a:ln/>
        </p:spPr>
        <p:txBody>
          <a:bodyPr wrap="square" rtlCol="0" anchor="ctr"/>
          <a:lstStyle/>
          <a:p>
            <a:pPr indent="0" marL="0">
              <a:buNone/>
            </a:pPr>
            <a:r>
              <a:rPr lang="en-US" sz="1300" b="1" dirty="0">
                <a:solidFill>
                  <a:srgbClr val="111315"/>
                </a:solidFill>
                <a:latin typeface="Arial" pitchFamily="34" charset="0"/>
                <a:ea typeface="Arial" pitchFamily="34" charset="-122"/>
                <a:cs typeface="Arial" pitchFamily="34" charset="-120"/>
              </a:rPr>
              <a:t>Lock in and execute</a:t>
            </a:r>
            <a:endParaRPr lang="en-US" sz="1300" dirty="0"/>
          </a:p>
        </p:txBody>
      </p:sp>
      <p:sp>
        <p:nvSpPr>
          <p:cNvPr id="24" name="Text 22"/>
          <p:cNvSpPr/>
          <p:nvPr/>
        </p:nvSpPr>
        <p:spPr>
          <a:xfrm>
            <a:off x="822960" y="5184648"/>
            <a:ext cx="4983480" cy="274320"/>
          </a:xfrm>
          <a:prstGeom prst="rect">
            <a:avLst/>
          </a:prstGeom>
          <a:noFill/>
          <a:ln/>
        </p:spPr>
        <p:txBody>
          <a:bodyPr wrap="square" rtlCol="0" anchor="ctr"/>
          <a:lstStyle/>
          <a:p>
            <a:pPr indent="0" marL="0">
              <a:buNone/>
            </a:pPr>
            <a:r>
              <a:rPr lang="en-US" sz="1050" dirty="0">
                <a:solidFill>
                  <a:srgbClr val="888880"/>
                </a:solidFill>
                <a:latin typeface="Arial" pitchFamily="34" charset="0"/>
                <a:ea typeface="Arial" pitchFamily="34" charset="-122"/>
                <a:cs typeface="Arial" pitchFamily="34" charset="-120"/>
              </a:rPr>
              <a:t>→  Fullscreen countdown timer</a:t>
            </a:r>
            <a:endParaRPr lang="en-US" sz="1050" dirty="0"/>
          </a:p>
        </p:txBody>
      </p:sp>
      <p:sp>
        <p:nvSpPr>
          <p:cNvPr id="25" name="Text 23"/>
          <p:cNvSpPr/>
          <p:nvPr/>
        </p:nvSpPr>
        <p:spPr>
          <a:xfrm>
            <a:off x="822960" y="5513832"/>
            <a:ext cx="4983480" cy="274320"/>
          </a:xfrm>
          <a:prstGeom prst="rect">
            <a:avLst/>
          </a:prstGeom>
          <a:noFill/>
          <a:ln/>
        </p:spPr>
        <p:txBody>
          <a:bodyPr wrap="square" rtlCol="0" anchor="ctr"/>
          <a:lstStyle/>
          <a:p>
            <a:pPr indent="0" marL="0">
              <a:buNone/>
            </a:pPr>
            <a:r>
              <a:rPr lang="en-US" sz="1050" dirty="0">
                <a:solidFill>
                  <a:srgbClr val="888880"/>
                </a:solidFill>
                <a:latin typeface="Arial" pitchFamily="34" charset="0"/>
                <a:ea typeface="Arial" pitchFamily="34" charset="-122"/>
                <a:cs typeface="Arial" pitchFamily="34" charset="-120"/>
              </a:rPr>
              <a:t>→  Taskchain (sequential) or Taskweb (visual)</a:t>
            </a:r>
            <a:endParaRPr lang="en-US" sz="1050" dirty="0"/>
          </a:p>
        </p:txBody>
      </p:sp>
      <p:sp>
        <p:nvSpPr>
          <p:cNvPr id="26" name="Text 24"/>
          <p:cNvSpPr/>
          <p:nvPr/>
        </p:nvSpPr>
        <p:spPr>
          <a:xfrm>
            <a:off x="822960" y="5843016"/>
            <a:ext cx="4983480" cy="274320"/>
          </a:xfrm>
          <a:prstGeom prst="rect">
            <a:avLst/>
          </a:prstGeom>
          <a:noFill/>
          <a:ln/>
        </p:spPr>
        <p:txBody>
          <a:bodyPr wrap="square" rtlCol="0" anchor="ctr"/>
          <a:lstStyle/>
          <a:p>
            <a:pPr indent="0" marL="0">
              <a:buNone/>
            </a:pPr>
            <a:r>
              <a:rPr lang="en-US" sz="1050" dirty="0">
                <a:solidFill>
                  <a:srgbClr val="888880"/>
                </a:solidFill>
                <a:latin typeface="Arial" pitchFamily="34" charset="0"/>
                <a:ea typeface="Arial" pitchFamily="34" charset="-122"/>
                <a:cs typeface="Arial" pitchFamily="34" charset="-120"/>
              </a:rPr>
              <a:t>→  Auto-completes tasks on finish</a:t>
            </a:r>
            <a:endParaRPr lang="en-US" sz="1050" dirty="0"/>
          </a:p>
        </p:txBody>
      </p:sp>
      <p:sp>
        <p:nvSpPr>
          <p:cNvPr id="27" name="Text 25"/>
          <p:cNvSpPr/>
          <p:nvPr/>
        </p:nvSpPr>
        <p:spPr>
          <a:xfrm>
            <a:off x="822960" y="6172200"/>
            <a:ext cx="4983480" cy="274320"/>
          </a:xfrm>
          <a:prstGeom prst="rect">
            <a:avLst/>
          </a:prstGeom>
          <a:noFill/>
          <a:ln/>
        </p:spPr>
        <p:txBody>
          <a:bodyPr wrap="square" rtlCol="0" anchor="ctr"/>
          <a:lstStyle/>
          <a:p>
            <a:pPr indent="0" marL="0">
              <a:buNone/>
            </a:pPr>
            <a:r>
              <a:rPr lang="en-US" sz="1050" dirty="0">
                <a:solidFill>
                  <a:srgbClr val="888880"/>
                </a:solidFill>
                <a:latin typeface="Arial" pitchFamily="34" charset="0"/>
                <a:ea typeface="Arial" pitchFamily="34" charset="-122"/>
                <a:cs typeface="Arial" pitchFamily="34" charset="-120"/>
              </a:rPr>
              <a:t>→  Immersive, distraction-free UI</a:t>
            </a:r>
            <a:endParaRPr lang="en-US" sz="1050" dirty="0"/>
          </a:p>
        </p:txBody>
      </p:sp>
      <p:sp>
        <p:nvSpPr>
          <p:cNvPr id="28" name="Shape 26"/>
          <p:cNvSpPr/>
          <p:nvPr/>
        </p:nvSpPr>
        <p:spPr>
          <a:xfrm>
            <a:off x="6245352" y="4325112"/>
            <a:ext cx="5349240" cy="2331720"/>
          </a:xfrm>
          <a:prstGeom prst="roundRect">
            <a:avLst>
              <a:gd name="adj" fmla="val 4706"/>
            </a:avLst>
          </a:prstGeom>
          <a:solidFill>
            <a:srgbClr val="FFFFFF"/>
          </a:solidFill>
          <a:ln w="9525">
            <a:solidFill>
              <a:srgbClr val="E0DDD6"/>
            </a:solidFill>
            <a:prstDash val="solid"/>
          </a:ln>
        </p:spPr>
      </p:sp>
      <p:sp>
        <p:nvSpPr>
          <p:cNvPr id="29" name="Shape 27"/>
          <p:cNvSpPr/>
          <p:nvPr/>
        </p:nvSpPr>
        <p:spPr>
          <a:xfrm>
            <a:off x="6428232" y="4507992"/>
            <a:ext cx="1097280" cy="237744"/>
          </a:xfrm>
          <a:prstGeom prst="roundRect">
            <a:avLst>
              <a:gd name="adj" fmla="val 50000"/>
            </a:avLst>
          </a:prstGeom>
          <a:solidFill>
            <a:srgbClr val="FFF5E8"/>
          </a:solidFill>
          <a:ln w="12700">
            <a:solidFill>
              <a:srgbClr val="E0DDD6"/>
            </a:solidFill>
            <a:prstDash val="solid"/>
          </a:ln>
        </p:spPr>
      </p:sp>
      <p:sp>
        <p:nvSpPr>
          <p:cNvPr id="30" name="Text 28"/>
          <p:cNvSpPr/>
          <p:nvPr/>
        </p:nvSpPr>
        <p:spPr>
          <a:xfrm>
            <a:off x="6428232" y="4507992"/>
            <a:ext cx="1097280" cy="237744"/>
          </a:xfrm>
          <a:prstGeom prst="rect">
            <a:avLst/>
          </a:prstGeom>
          <a:noFill/>
          <a:ln/>
        </p:spPr>
        <p:txBody>
          <a:bodyPr wrap="square" rtlCol="0" anchor="ctr"/>
          <a:lstStyle/>
          <a:p>
            <a:pPr algn="ctr" indent="0" marL="0">
              <a:buNone/>
            </a:pPr>
            <a:r>
              <a:rPr lang="en-US" sz="800" b="1" dirty="0">
                <a:solidFill>
                  <a:srgbClr val="B05020"/>
                </a:solidFill>
                <a:latin typeface="Arial" pitchFamily="34" charset="0"/>
                <a:ea typeface="Arial" pitchFamily="34" charset="-122"/>
                <a:cs typeface="Arial" pitchFamily="34" charset="-120"/>
              </a:rPr>
              <a:t>Sync &amp; Boards</a:t>
            </a:r>
            <a:endParaRPr lang="en-US" sz="800" dirty="0"/>
          </a:p>
        </p:txBody>
      </p:sp>
      <p:sp>
        <p:nvSpPr>
          <p:cNvPr id="31" name="Text 29"/>
          <p:cNvSpPr/>
          <p:nvPr/>
        </p:nvSpPr>
        <p:spPr>
          <a:xfrm>
            <a:off x="6428232" y="4818888"/>
            <a:ext cx="4983480" cy="274320"/>
          </a:xfrm>
          <a:prstGeom prst="rect">
            <a:avLst/>
          </a:prstGeom>
          <a:noFill/>
          <a:ln/>
        </p:spPr>
        <p:txBody>
          <a:bodyPr wrap="square" rtlCol="0" anchor="ctr"/>
          <a:lstStyle/>
          <a:p>
            <a:pPr indent="0" marL="0">
              <a:buNone/>
            </a:pPr>
            <a:r>
              <a:rPr lang="en-US" sz="1300" b="1" dirty="0">
                <a:solidFill>
                  <a:srgbClr val="111315"/>
                </a:solidFill>
                <a:latin typeface="Arial" pitchFamily="34" charset="0"/>
                <a:ea typeface="Arial" pitchFamily="34" charset="-122"/>
                <a:cs typeface="Arial" pitchFamily="34" charset="-120"/>
              </a:rPr>
              <a:t>Your workspace, everywhere</a:t>
            </a:r>
            <a:endParaRPr lang="en-US" sz="1300" dirty="0"/>
          </a:p>
        </p:txBody>
      </p:sp>
      <p:sp>
        <p:nvSpPr>
          <p:cNvPr id="32" name="Text 30"/>
          <p:cNvSpPr/>
          <p:nvPr/>
        </p:nvSpPr>
        <p:spPr>
          <a:xfrm>
            <a:off x="6428232" y="5184648"/>
            <a:ext cx="4983480" cy="274320"/>
          </a:xfrm>
          <a:prstGeom prst="rect">
            <a:avLst/>
          </a:prstGeom>
          <a:noFill/>
          <a:ln/>
        </p:spPr>
        <p:txBody>
          <a:bodyPr wrap="square" rtlCol="0" anchor="ctr"/>
          <a:lstStyle/>
          <a:p>
            <a:pPr indent="0" marL="0">
              <a:buNone/>
            </a:pPr>
            <a:r>
              <a:rPr lang="en-US" sz="1050" dirty="0">
                <a:solidFill>
                  <a:srgbClr val="888880"/>
                </a:solidFill>
                <a:latin typeface="Arial" pitchFamily="34" charset="0"/>
                <a:ea typeface="Arial" pitchFamily="34" charset="-122"/>
                <a:cs typeface="Arial" pitchFamily="34" charset="-120"/>
              </a:rPr>
              <a:t>→  Instant cloud save on every change</a:t>
            </a:r>
            <a:endParaRPr lang="en-US" sz="1050" dirty="0"/>
          </a:p>
        </p:txBody>
      </p:sp>
      <p:sp>
        <p:nvSpPr>
          <p:cNvPr id="33" name="Text 31"/>
          <p:cNvSpPr/>
          <p:nvPr/>
        </p:nvSpPr>
        <p:spPr>
          <a:xfrm>
            <a:off x="6428232" y="5513832"/>
            <a:ext cx="4983480" cy="274320"/>
          </a:xfrm>
          <a:prstGeom prst="rect">
            <a:avLst/>
          </a:prstGeom>
          <a:noFill/>
          <a:ln/>
        </p:spPr>
        <p:txBody>
          <a:bodyPr wrap="square" rtlCol="0" anchor="ctr"/>
          <a:lstStyle/>
          <a:p>
            <a:pPr indent="0" marL="0">
              <a:buNone/>
            </a:pPr>
            <a:r>
              <a:rPr lang="en-US" sz="1050" dirty="0">
                <a:solidFill>
                  <a:srgbClr val="888880"/>
                </a:solidFill>
                <a:latin typeface="Arial" pitchFamily="34" charset="0"/>
                <a:ea typeface="Arial" pitchFamily="34" charset="-122"/>
                <a:cs typeface="Arial" pitchFamily="34" charset="-120"/>
              </a:rPr>
              <a:t>→  Multiple named boards per type</a:t>
            </a:r>
            <a:endParaRPr lang="en-US" sz="1050" dirty="0"/>
          </a:p>
        </p:txBody>
      </p:sp>
      <p:sp>
        <p:nvSpPr>
          <p:cNvPr id="34" name="Text 32"/>
          <p:cNvSpPr/>
          <p:nvPr/>
        </p:nvSpPr>
        <p:spPr>
          <a:xfrm>
            <a:off x="6428232" y="5843016"/>
            <a:ext cx="4983480" cy="274320"/>
          </a:xfrm>
          <a:prstGeom prst="rect">
            <a:avLst/>
          </a:prstGeom>
          <a:noFill/>
          <a:ln/>
        </p:spPr>
        <p:txBody>
          <a:bodyPr wrap="square" rtlCol="0" anchor="ctr"/>
          <a:lstStyle/>
          <a:p>
            <a:pPr indent="0" marL="0">
              <a:buNone/>
            </a:pPr>
            <a:r>
              <a:rPr lang="en-US" sz="1050" dirty="0">
                <a:solidFill>
                  <a:srgbClr val="888880"/>
                </a:solidFill>
                <a:latin typeface="Arial" pitchFamily="34" charset="0"/>
                <a:ea typeface="Arial" pitchFamily="34" charset="-122"/>
                <a:cs typeface="Arial" pitchFamily="34" charset="-120"/>
              </a:rPr>
              <a:t>→  Dark mode + light mode</a:t>
            </a:r>
            <a:endParaRPr lang="en-US" sz="1050" dirty="0"/>
          </a:p>
        </p:txBody>
      </p:sp>
      <p:sp>
        <p:nvSpPr>
          <p:cNvPr id="35" name="Text 33"/>
          <p:cNvSpPr/>
          <p:nvPr/>
        </p:nvSpPr>
        <p:spPr>
          <a:xfrm>
            <a:off x="6428232" y="6172200"/>
            <a:ext cx="4983480" cy="274320"/>
          </a:xfrm>
          <a:prstGeom prst="rect">
            <a:avLst/>
          </a:prstGeom>
          <a:noFill/>
          <a:ln/>
        </p:spPr>
        <p:txBody>
          <a:bodyPr wrap="square" rtlCol="0" anchor="ctr"/>
          <a:lstStyle/>
          <a:p>
            <a:pPr indent="0" marL="0">
              <a:buNone/>
            </a:pPr>
            <a:r>
              <a:rPr lang="en-US" sz="1050" dirty="0">
                <a:solidFill>
                  <a:srgbClr val="888880"/>
                </a:solidFill>
                <a:latin typeface="Arial" pitchFamily="34" charset="0"/>
                <a:ea typeface="Arial" pitchFamily="34" charset="-122"/>
                <a:cs typeface="Arial" pitchFamily="34" charset="-120"/>
              </a:rPr>
              <a:t>→  Grid, dots, or blank canvas</a:t>
            </a:r>
            <a:endParaRPr lang="en-US" sz="1050" dirty="0"/>
          </a:p>
        </p:txBody>
      </p:sp>
      <p:sp>
        <p:nvSpPr>
          <p:cNvPr id="36" name="Text 34"/>
          <p:cNvSpPr/>
          <p:nvPr/>
        </p:nvSpPr>
        <p:spPr>
          <a:xfrm>
            <a:off x="11000232" y="6446520"/>
            <a:ext cx="914400" cy="274320"/>
          </a:xfrm>
          <a:prstGeom prst="rect">
            <a:avLst/>
          </a:prstGeom>
          <a:noFill/>
          <a:ln/>
        </p:spPr>
        <p:txBody>
          <a:bodyPr wrap="square" rtlCol="0" anchor="ctr"/>
          <a:lstStyle/>
          <a:p>
            <a:pPr algn="r" indent="0" marL="0">
              <a:buNone/>
            </a:pPr>
            <a:r>
              <a:rPr lang="en-US" sz="900" dirty="0">
                <a:solidFill>
                  <a:srgbClr val="888880"/>
                </a:solidFill>
                <a:latin typeface="Arial" pitchFamily="34" charset="0"/>
                <a:ea typeface="Arial" pitchFamily="34" charset="-122"/>
                <a:cs typeface="Arial" pitchFamily="34" charset="-120"/>
              </a:rPr>
              <a:t>04 / 09</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1EB"/>
        </a:solidFill>
      </p:bgPr>
    </p:bg>
    <p:spTree>
      <p:nvGrpSpPr>
        <p:cNvPr id="1" name=""/>
        <p:cNvGrpSpPr/>
        <p:nvPr/>
      </p:nvGrpSpPr>
      <p:grpSpPr>
        <a:xfrm>
          <a:off x="0" y="0"/>
          <a:ext cx="0" cy="0"/>
          <a:chOff x="0" y="0"/>
          <a:chExt cx="0" cy="0"/>
        </a:xfrm>
      </p:grpSpPr>
      <p:sp>
        <p:nvSpPr>
          <p:cNvPr id="2" name="Text 0"/>
          <p:cNvSpPr/>
          <p:nvPr/>
        </p:nvSpPr>
        <p:spPr>
          <a:xfrm>
            <a:off x="640080" y="502920"/>
            <a:ext cx="10908792" cy="201168"/>
          </a:xfrm>
          <a:prstGeom prst="rect">
            <a:avLst/>
          </a:prstGeom>
          <a:noFill/>
          <a:ln/>
        </p:spPr>
        <p:txBody>
          <a:bodyPr wrap="square" rtlCol="0" anchor="ctr"/>
          <a:lstStyle/>
          <a:p>
            <a:pPr indent="0" marL="0">
              <a:buNone/>
            </a:pPr>
            <a:r>
              <a:rPr lang="en-US" sz="900" b="1" spc="200" kern="0" dirty="0">
                <a:solidFill>
                  <a:srgbClr val="888880"/>
                </a:solidFill>
                <a:latin typeface="Arial" pitchFamily="34" charset="0"/>
                <a:ea typeface="Arial" pitchFamily="34" charset="-122"/>
                <a:cs typeface="Arial" pitchFamily="34" charset="-120"/>
              </a:rPr>
              <a:t>AI-POWERED</a:t>
            </a:r>
            <a:endParaRPr lang="en-US" sz="900" dirty="0"/>
          </a:p>
        </p:txBody>
      </p:sp>
      <p:sp>
        <p:nvSpPr>
          <p:cNvPr id="3" name="Text 1"/>
          <p:cNvSpPr/>
          <p:nvPr/>
        </p:nvSpPr>
        <p:spPr>
          <a:xfrm>
            <a:off x="640080" y="685800"/>
            <a:ext cx="10908792" cy="1463040"/>
          </a:xfrm>
          <a:prstGeom prst="rect">
            <a:avLst/>
          </a:prstGeom>
          <a:noFill/>
          <a:ln/>
        </p:spPr>
        <p:txBody>
          <a:bodyPr wrap="square" rtlCol="0" anchor="ctr"/>
          <a:lstStyle/>
          <a:p>
            <a:pPr indent="0" marL="0">
              <a:lnSpc>
                <a:spcPct val="110000"/>
              </a:lnSpc>
              <a:buNone/>
            </a:pPr>
            <a:r>
              <a:rPr lang="en-US" sz="3400" b="1" dirty="0">
                <a:solidFill>
                  <a:srgbClr val="111315"/>
                </a:solidFill>
                <a:latin typeface="Arial" pitchFamily="34" charset="0"/>
                <a:ea typeface="Arial" pitchFamily="34" charset="-122"/>
                <a:cs typeface="Arial" pitchFamily="34" charset="-120"/>
              </a:rPr>
              <a:t>From vague goal</a:t>
            </a:r>
            <a:endParaRPr lang="en-US" sz="3400" dirty="0"/>
          </a:p>
          <a:p>
            <a:pPr indent="0" marL="0">
              <a:lnSpc>
                <a:spcPct val="110000"/>
              </a:lnSpc>
              <a:buNone/>
            </a:pPr>
            <a:r>
              <a:rPr lang="en-US" sz="3400" b="1" dirty="0">
                <a:solidFill>
                  <a:srgbClr val="111315"/>
                </a:solidFill>
                <a:latin typeface="Arial" pitchFamily="34" charset="0"/>
                <a:ea typeface="Arial" pitchFamily="34" charset="-122"/>
                <a:cs typeface="Arial" pitchFamily="34" charset="-120"/>
              </a:rPr>
              <a:t>to actionable plan.</a:t>
            </a:r>
            <a:endParaRPr lang="en-US" sz="3400" dirty="0"/>
          </a:p>
        </p:txBody>
      </p:sp>
      <p:sp>
        <p:nvSpPr>
          <p:cNvPr id="4" name="Text 2"/>
          <p:cNvSpPr/>
          <p:nvPr/>
        </p:nvSpPr>
        <p:spPr>
          <a:xfrm>
            <a:off x="640080" y="1783080"/>
            <a:ext cx="7772400" cy="731520"/>
          </a:xfrm>
          <a:prstGeom prst="rect">
            <a:avLst/>
          </a:prstGeom>
          <a:noFill/>
          <a:ln/>
        </p:spPr>
        <p:txBody>
          <a:bodyPr wrap="square" rtlCol="0" anchor="ctr"/>
          <a:lstStyle/>
          <a:p>
            <a:pPr indent="0" marL="0">
              <a:lnSpc>
                <a:spcPct val="150000"/>
              </a:lnSpc>
              <a:buNone/>
            </a:pPr>
            <a:r>
              <a:rPr lang="en-US" sz="1400" dirty="0">
                <a:solidFill>
                  <a:srgbClr val="888880"/>
                </a:solidFill>
                <a:latin typeface="Arial" pitchFamily="34" charset="0"/>
                <a:ea typeface="Arial" pitchFamily="34" charset="-122"/>
                <a:cs typeface="Arial" pitchFamily="34" charset="-120"/>
              </a:rPr>
              <a:t>Describe a task — Boardtivity breaks it into timed subtasks with realistic estimates for each step. Editable, re-generatable, and immediately actionable.</a:t>
            </a:r>
            <a:endParaRPr lang="en-US" sz="1400" dirty="0"/>
          </a:p>
        </p:txBody>
      </p:sp>
      <p:sp>
        <p:nvSpPr>
          <p:cNvPr id="5" name="Shape 3"/>
          <p:cNvSpPr/>
          <p:nvPr/>
        </p:nvSpPr>
        <p:spPr>
          <a:xfrm>
            <a:off x="640080" y="2788920"/>
            <a:ext cx="2606040" cy="2377440"/>
          </a:xfrm>
          <a:prstGeom prst="roundRect">
            <a:avLst>
              <a:gd name="adj" fmla="val 4615"/>
            </a:avLst>
          </a:prstGeom>
          <a:solidFill>
            <a:srgbClr val="FFFFFF"/>
          </a:solidFill>
          <a:ln w="9525">
            <a:solidFill>
              <a:srgbClr val="E0DDD6"/>
            </a:solidFill>
            <a:prstDash val="solid"/>
          </a:ln>
        </p:spPr>
      </p:sp>
      <p:sp>
        <p:nvSpPr>
          <p:cNvPr id="6" name="Text 4"/>
          <p:cNvSpPr/>
          <p:nvPr/>
        </p:nvSpPr>
        <p:spPr>
          <a:xfrm>
            <a:off x="822960" y="2971800"/>
            <a:ext cx="914400" cy="201168"/>
          </a:xfrm>
          <a:prstGeom prst="rect">
            <a:avLst/>
          </a:prstGeom>
          <a:noFill/>
          <a:ln/>
        </p:spPr>
        <p:txBody>
          <a:bodyPr wrap="square" rtlCol="0" anchor="ctr"/>
          <a:lstStyle/>
          <a:p>
            <a:pPr indent="0" marL="0">
              <a:buNone/>
            </a:pPr>
            <a:r>
              <a:rPr lang="en-US" sz="900" b="1" spc="150" kern="0" dirty="0">
                <a:solidFill>
                  <a:srgbClr val="888880"/>
                </a:solidFill>
                <a:latin typeface="Arial" pitchFamily="34" charset="0"/>
                <a:ea typeface="Arial" pitchFamily="34" charset="-122"/>
                <a:cs typeface="Arial" pitchFamily="34" charset="-120"/>
              </a:rPr>
              <a:t>01</a:t>
            </a:r>
            <a:endParaRPr lang="en-US" sz="900" dirty="0"/>
          </a:p>
        </p:txBody>
      </p:sp>
      <p:sp>
        <p:nvSpPr>
          <p:cNvPr id="7" name="Text 5"/>
          <p:cNvSpPr/>
          <p:nvPr/>
        </p:nvSpPr>
        <p:spPr>
          <a:xfrm>
            <a:off x="822960" y="3236976"/>
            <a:ext cx="2331720" cy="365760"/>
          </a:xfrm>
          <a:prstGeom prst="rect">
            <a:avLst/>
          </a:prstGeom>
          <a:noFill/>
          <a:ln/>
        </p:spPr>
        <p:txBody>
          <a:bodyPr wrap="square" rtlCol="0" anchor="ctr"/>
          <a:lstStyle/>
          <a:p>
            <a:pPr indent="0" marL="0">
              <a:buNone/>
            </a:pPr>
            <a:r>
              <a:rPr lang="en-US" sz="1400" b="1" dirty="0">
                <a:solidFill>
                  <a:srgbClr val="111315"/>
                </a:solidFill>
                <a:latin typeface="Arial" pitchFamily="34" charset="0"/>
                <a:ea typeface="Arial" pitchFamily="34" charset="-122"/>
                <a:cs typeface="Arial" pitchFamily="34" charset="-120"/>
              </a:rPr>
              <a:t>Breakdown Task</a:t>
            </a:r>
            <a:endParaRPr lang="en-US" sz="1400" dirty="0"/>
          </a:p>
        </p:txBody>
      </p:sp>
      <p:sp>
        <p:nvSpPr>
          <p:cNvPr id="8" name="Text 6"/>
          <p:cNvSpPr/>
          <p:nvPr/>
        </p:nvSpPr>
        <p:spPr>
          <a:xfrm>
            <a:off x="822960" y="3703320"/>
            <a:ext cx="2331720" cy="1280160"/>
          </a:xfrm>
          <a:prstGeom prst="rect">
            <a:avLst/>
          </a:prstGeom>
          <a:noFill/>
          <a:ln/>
        </p:spPr>
        <p:txBody>
          <a:bodyPr wrap="square" rtlCol="0" anchor="ctr"/>
          <a:lstStyle/>
          <a:p>
            <a:pPr indent="0" marL="0">
              <a:lnSpc>
                <a:spcPct val="150000"/>
              </a:lnSpc>
              <a:buNone/>
            </a:pPr>
            <a:r>
              <a:rPr lang="en-US" sz="1050" dirty="0">
                <a:solidFill>
                  <a:srgbClr val="888880"/>
                </a:solidFill>
                <a:latin typeface="Arial" pitchFamily="34" charset="0"/>
                <a:ea typeface="Arial" pitchFamily="34" charset="-122"/>
                <a:cs typeface="Arial" pitchFamily="34" charset="-120"/>
              </a:rPr>
              <a:t>"Ship the landing page" → Write copy (20 min), Design mockup (45 min), Build in code (60 min), QA + deploy (20 min). Total: 145 min.</a:t>
            </a:r>
            <a:endParaRPr lang="en-US" sz="1050" dirty="0"/>
          </a:p>
        </p:txBody>
      </p:sp>
      <p:sp>
        <p:nvSpPr>
          <p:cNvPr id="9" name="Shape 7"/>
          <p:cNvSpPr/>
          <p:nvPr/>
        </p:nvSpPr>
        <p:spPr>
          <a:xfrm>
            <a:off x="3410712" y="2788920"/>
            <a:ext cx="2606040" cy="2377440"/>
          </a:xfrm>
          <a:prstGeom prst="roundRect">
            <a:avLst>
              <a:gd name="adj" fmla="val 4615"/>
            </a:avLst>
          </a:prstGeom>
          <a:solidFill>
            <a:srgbClr val="FFFFFF"/>
          </a:solidFill>
          <a:ln w="9525">
            <a:solidFill>
              <a:srgbClr val="E0DDD6"/>
            </a:solidFill>
            <a:prstDash val="solid"/>
          </a:ln>
        </p:spPr>
      </p:sp>
      <p:sp>
        <p:nvSpPr>
          <p:cNvPr id="10" name="Text 8"/>
          <p:cNvSpPr/>
          <p:nvPr/>
        </p:nvSpPr>
        <p:spPr>
          <a:xfrm>
            <a:off x="3593592" y="2971800"/>
            <a:ext cx="914400" cy="201168"/>
          </a:xfrm>
          <a:prstGeom prst="rect">
            <a:avLst/>
          </a:prstGeom>
          <a:noFill/>
          <a:ln/>
        </p:spPr>
        <p:txBody>
          <a:bodyPr wrap="square" rtlCol="0" anchor="ctr"/>
          <a:lstStyle/>
          <a:p>
            <a:pPr indent="0" marL="0">
              <a:buNone/>
            </a:pPr>
            <a:r>
              <a:rPr lang="en-US" sz="900" b="1" spc="150" kern="0" dirty="0">
                <a:solidFill>
                  <a:srgbClr val="888880"/>
                </a:solidFill>
                <a:latin typeface="Arial" pitchFamily="34" charset="0"/>
                <a:ea typeface="Arial" pitchFamily="34" charset="-122"/>
                <a:cs typeface="Arial" pitchFamily="34" charset="-120"/>
              </a:rPr>
              <a:t>02</a:t>
            </a:r>
            <a:endParaRPr lang="en-US" sz="900" dirty="0"/>
          </a:p>
        </p:txBody>
      </p:sp>
      <p:sp>
        <p:nvSpPr>
          <p:cNvPr id="11" name="Text 9"/>
          <p:cNvSpPr/>
          <p:nvPr/>
        </p:nvSpPr>
        <p:spPr>
          <a:xfrm>
            <a:off x="3593592" y="3236976"/>
            <a:ext cx="2331720" cy="365760"/>
          </a:xfrm>
          <a:prstGeom prst="rect">
            <a:avLst/>
          </a:prstGeom>
          <a:noFill/>
          <a:ln/>
        </p:spPr>
        <p:txBody>
          <a:bodyPr wrap="square" rtlCol="0" anchor="ctr"/>
          <a:lstStyle/>
          <a:p>
            <a:pPr indent="0" marL="0">
              <a:buNone/>
            </a:pPr>
            <a:r>
              <a:rPr lang="en-US" sz="1400" b="1" dirty="0">
                <a:solidFill>
                  <a:srgbClr val="111315"/>
                </a:solidFill>
                <a:latin typeface="Arial" pitchFamily="34" charset="0"/>
                <a:ea typeface="Arial" pitchFamily="34" charset="-122"/>
                <a:cs typeface="Arial" pitchFamily="34" charset="-120"/>
              </a:rPr>
              <a:t>Time is linked</a:t>
            </a:r>
            <a:endParaRPr lang="en-US" sz="1400" dirty="0"/>
          </a:p>
        </p:txBody>
      </p:sp>
      <p:sp>
        <p:nvSpPr>
          <p:cNvPr id="12" name="Text 10"/>
          <p:cNvSpPr/>
          <p:nvPr/>
        </p:nvSpPr>
        <p:spPr>
          <a:xfrm>
            <a:off x="3593592" y="3703320"/>
            <a:ext cx="2331720" cy="1280160"/>
          </a:xfrm>
          <a:prstGeom prst="rect">
            <a:avLst/>
          </a:prstGeom>
          <a:noFill/>
          <a:ln/>
        </p:spPr>
        <p:txBody>
          <a:bodyPr wrap="square" rtlCol="0" anchor="ctr"/>
          <a:lstStyle/>
          <a:p>
            <a:pPr indent="0" marL="0">
              <a:lnSpc>
                <a:spcPct val="150000"/>
              </a:lnSpc>
              <a:buNone/>
            </a:pPr>
            <a:r>
              <a:rPr lang="en-US" sz="1050" dirty="0">
                <a:solidFill>
                  <a:srgbClr val="888880"/>
                </a:solidFill>
                <a:latin typeface="Arial" pitchFamily="34" charset="0"/>
                <a:ea typeface="Arial" pitchFamily="34" charset="-122"/>
                <a:cs typeface="Arial" pitchFamily="34" charset="-120"/>
              </a:rPr>
              <a:t>Adjust any subtask's time and the total updates automatically. Build time estimates from the bottom up, not from guesswork.</a:t>
            </a:r>
            <a:endParaRPr lang="en-US" sz="1050" dirty="0"/>
          </a:p>
        </p:txBody>
      </p:sp>
      <p:sp>
        <p:nvSpPr>
          <p:cNvPr id="13" name="Shape 11"/>
          <p:cNvSpPr/>
          <p:nvPr/>
        </p:nvSpPr>
        <p:spPr>
          <a:xfrm>
            <a:off x="6181344" y="2788920"/>
            <a:ext cx="2606040" cy="2377440"/>
          </a:xfrm>
          <a:prstGeom prst="roundRect">
            <a:avLst>
              <a:gd name="adj" fmla="val 4615"/>
            </a:avLst>
          </a:prstGeom>
          <a:solidFill>
            <a:srgbClr val="FFFFFF"/>
          </a:solidFill>
          <a:ln w="9525">
            <a:solidFill>
              <a:srgbClr val="E0DDD6"/>
            </a:solidFill>
            <a:prstDash val="solid"/>
          </a:ln>
        </p:spPr>
      </p:sp>
      <p:sp>
        <p:nvSpPr>
          <p:cNvPr id="14" name="Text 12"/>
          <p:cNvSpPr/>
          <p:nvPr/>
        </p:nvSpPr>
        <p:spPr>
          <a:xfrm>
            <a:off x="6364224" y="2971800"/>
            <a:ext cx="914400" cy="201168"/>
          </a:xfrm>
          <a:prstGeom prst="rect">
            <a:avLst/>
          </a:prstGeom>
          <a:noFill/>
          <a:ln/>
        </p:spPr>
        <p:txBody>
          <a:bodyPr wrap="square" rtlCol="0" anchor="ctr"/>
          <a:lstStyle/>
          <a:p>
            <a:pPr indent="0" marL="0">
              <a:buNone/>
            </a:pPr>
            <a:r>
              <a:rPr lang="en-US" sz="900" b="1" spc="150" kern="0" dirty="0">
                <a:solidFill>
                  <a:srgbClr val="888880"/>
                </a:solidFill>
                <a:latin typeface="Arial" pitchFamily="34" charset="0"/>
                <a:ea typeface="Arial" pitchFamily="34" charset="-122"/>
                <a:cs typeface="Arial" pitchFamily="34" charset="-120"/>
              </a:rPr>
              <a:t>03</a:t>
            </a:r>
            <a:endParaRPr lang="en-US" sz="900" dirty="0"/>
          </a:p>
        </p:txBody>
      </p:sp>
      <p:sp>
        <p:nvSpPr>
          <p:cNvPr id="15" name="Text 13"/>
          <p:cNvSpPr/>
          <p:nvPr/>
        </p:nvSpPr>
        <p:spPr>
          <a:xfrm>
            <a:off x="6364224" y="3236976"/>
            <a:ext cx="2331720" cy="365760"/>
          </a:xfrm>
          <a:prstGeom prst="rect">
            <a:avLst/>
          </a:prstGeom>
          <a:noFill/>
          <a:ln/>
        </p:spPr>
        <p:txBody>
          <a:bodyPr wrap="square" rtlCol="0" anchor="ctr"/>
          <a:lstStyle/>
          <a:p>
            <a:pPr indent="0" marL="0">
              <a:buNone/>
            </a:pPr>
            <a:r>
              <a:rPr lang="en-US" sz="1400" b="1" dirty="0">
                <a:solidFill>
                  <a:srgbClr val="111315"/>
                </a:solidFill>
                <a:latin typeface="Arial" pitchFamily="34" charset="0"/>
                <a:ea typeface="Arial" pitchFamily="34" charset="-122"/>
                <a:cs typeface="Arial" pitchFamily="34" charset="-120"/>
              </a:rPr>
              <a:t>Focus flow</a:t>
            </a:r>
            <a:endParaRPr lang="en-US" sz="1400" dirty="0"/>
          </a:p>
        </p:txBody>
      </p:sp>
      <p:sp>
        <p:nvSpPr>
          <p:cNvPr id="16" name="Text 14"/>
          <p:cNvSpPr/>
          <p:nvPr/>
        </p:nvSpPr>
        <p:spPr>
          <a:xfrm>
            <a:off x="6364224" y="3703320"/>
            <a:ext cx="2331720" cy="1280160"/>
          </a:xfrm>
          <a:prstGeom prst="rect">
            <a:avLst/>
          </a:prstGeom>
          <a:noFill/>
          <a:ln/>
        </p:spPr>
        <p:txBody>
          <a:bodyPr wrap="square" rtlCol="0" anchor="ctr"/>
          <a:lstStyle/>
          <a:p>
            <a:pPr indent="0" marL="0">
              <a:lnSpc>
                <a:spcPct val="150000"/>
              </a:lnSpc>
              <a:buNone/>
            </a:pPr>
            <a:r>
              <a:rPr lang="en-US" sz="1050" dirty="0">
                <a:solidFill>
                  <a:srgbClr val="888880"/>
                </a:solidFill>
                <a:latin typeface="Arial" pitchFamily="34" charset="0"/>
                <a:ea typeface="Arial" pitchFamily="34" charset="-122"/>
                <a:cs typeface="Arial" pitchFamily="34" charset="-120"/>
              </a:rPr>
              <a:t>Hit Start Focus. The timer walks through each subtask in sequence — one at a time, locked in, until the whole task is done.</a:t>
            </a:r>
            <a:endParaRPr lang="en-US" sz="1050" dirty="0"/>
          </a:p>
        </p:txBody>
      </p:sp>
      <p:sp>
        <p:nvSpPr>
          <p:cNvPr id="17" name="Shape 15"/>
          <p:cNvSpPr/>
          <p:nvPr/>
        </p:nvSpPr>
        <p:spPr>
          <a:xfrm>
            <a:off x="8951976" y="2788920"/>
            <a:ext cx="2606040" cy="2377440"/>
          </a:xfrm>
          <a:prstGeom prst="roundRect">
            <a:avLst>
              <a:gd name="adj" fmla="val 4615"/>
            </a:avLst>
          </a:prstGeom>
          <a:solidFill>
            <a:srgbClr val="FFFFFF"/>
          </a:solidFill>
          <a:ln w="9525">
            <a:solidFill>
              <a:srgbClr val="E0DDD6"/>
            </a:solidFill>
            <a:prstDash val="solid"/>
          </a:ln>
        </p:spPr>
      </p:sp>
      <p:sp>
        <p:nvSpPr>
          <p:cNvPr id="18" name="Text 16"/>
          <p:cNvSpPr/>
          <p:nvPr/>
        </p:nvSpPr>
        <p:spPr>
          <a:xfrm>
            <a:off x="9134856" y="2971800"/>
            <a:ext cx="914400" cy="201168"/>
          </a:xfrm>
          <a:prstGeom prst="rect">
            <a:avLst/>
          </a:prstGeom>
          <a:noFill/>
          <a:ln/>
        </p:spPr>
        <p:txBody>
          <a:bodyPr wrap="square" rtlCol="0" anchor="ctr"/>
          <a:lstStyle/>
          <a:p>
            <a:pPr indent="0" marL="0">
              <a:buNone/>
            </a:pPr>
            <a:r>
              <a:rPr lang="en-US" sz="900" b="1" spc="150" kern="0" dirty="0">
                <a:solidFill>
                  <a:srgbClr val="888880"/>
                </a:solidFill>
                <a:latin typeface="Arial" pitchFamily="34" charset="0"/>
                <a:ea typeface="Arial" pitchFamily="34" charset="-122"/>
                <a:cs typeface="Arial" pitchFamily="34" charset="-120"/>
              </a:rPr>
              <a:t>04</a:t>
            </a:r>
            <a:endParaRPr lang="en-US" sz="900" dirty="0"/>
          </a:p>
        </p:txBody>
      </p:sp>
      <p:sp>
        <p:nvSpPr>
          <p:cNvPr id="19" name="Text 17"/>
          <p:cNvSpPr/>
          <p:nvPr/>
        </p:nvSpPr>
        <p:spPr>
          <a:xfrm>
            <a:off x="9134856" y="3236976"/>
            <a:ext cx="2331720" cy="365760"/>
          </a:xfrm>
          <a:prstGeom prst="rect">
            <a:avLst/>
          </a:prstGeom>
          <a:noFill/>
          <a:ln/>
        </p:spPr>
        <p:txBody>
          <a:bodyPr wrap="square" rtlCol="0" anchor="ctr"/>
          <a:lstStyle/>
          <a:p>
            <a:pPr indent="0" marL="0">
              <a:buNone/>
            </a:pPr>
            <a:r>
              <a:rPr lang="en-US" sz="1400" b="1" dirty="0">
                <a:solidFill>
                  <a:srgbClr val="111315"/>
                </a:solidFill>
                <a:latin typeface="Arial" pitchFamily="34" charset="0"/>
                <a:ea typeface="Arial" pitchFamily="34" charset="-122"/>
                <a:cs typeface="Arial" pitchFamily="34" charset="-120"/>
              </a:rPr>
              <a:t>No AI overhead</a:t>
            </a:r>
            <a:endParaRPr lang="en-US" sz="1400" dirty="0"/>
          </a:p>
        </p:txBody>
      </p:sp>
      <p:sp>
        <p:nvSpPr>
          <p:cNvPr id="20" name="Text 18"/>
          <p:cNvSpPr/>
          <p:nvPr/>
        </p:nvSpPr>
        <p:spPr>
          <a:xfrm>
            <a:off x="9134856" y="3703320"/>
            <a:ext cx="2331720" cy="1280160"/>
          </a:xfrm>
          <a:prstGeom prst="rect">
            <a:avLst/>
          </a:prstGeom>
          <a:noFill/>
          <a:ln/>
        </p:spPr>
        <p:txBody>
          <a:bodyPr wrap="square" rtlCol="0" anchor="ctr"/>
          <a:lstStyle/>
          <a:p>
            <a:pPr indent="0" marL="0">
              <a:lnSpc>
                <a:spcPct val="150000"/>
              </a:lnSpc>
              <a:buNone/>
            </a:pPr>
            <a:r>
              <a:rPr lang="en-US" sz="1050" dirty="0">
                <a:solidFill>
                  <a:srgbClr val="888880"/>
                </a:solidFill>
                <a:latin typeface="Arial" pitchFamily="34" charset="0"/>
                <a:ea typeface="Arial" pitchFamily="34" charset="-122"/>
                <a:cs typeface="Arial" pitchFamily="34" charset="-120"/>
              </a:rPr>
              <a:t>AI features are opt-in. Skip breakdown entirely and Boardtivity works as a fast, clean board with no AI clutter in the way.</a:t>
            </a:r>
            <a:endParaRPr lang="en-US" sz="1050" dirty="0"/>
          </a:p>
        </p:txBody>
      </p:sp>
      <p:sp>
        <p:nvSpPr>
          <p:cNvPr id="21" name="Text 19"/>
          <p:cNvSpPr/>
          <p:nvPr/>
        </p:nvSpPr>
        <p:spPr>
          <a:xfrm>
            <a:off x="11000232" y="6446520"/>
            <a:ext cx="914400" cy="274320"/>
          </a:xfrm>
          <a:prstGeom prst="rect">
            <a:avLst/>
          </a:prstGeom>
          <a:noFill/>
          <a:ln/>
        </p:spPr>
        <p:txBody>
          <a:bodyPr wrap="square" rtlCol="0" anchor="ctr"/>
          <a:lstStyle/>
          <a:p>
            <a:pPr algn="r" indent="0" marL="0">
              <a:buNone/>
            </a:pPr>
            <a:r>
              <a:rPr lang="en-US" sz="900" dirty="0">
                <a:solidFill>
                  <a:srgbClr val="888880"/>
                </a:solidFill>
                <a:latin typeface="Arial" pitchFamily="34" charset="0"/>
                <a:ea typeface="Arial" pitchFamily="34" charset="-122"/>
                <a:cs typeface="Arial" pitchFamily="34" charset="-120"/>
              </a:rPr>
              <a:t>05 / 09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1EB"/>
        </a:solidFill>
      </p:bgPr>
    </p:bg>
    <p:spTree>
      <p:nvGrpSpPr>
        <p:cNvPr id="1" name=""/>
        <p:cNvGrpSpPr/>
        <p:nvPr/>
      </p:nvGrpSpPr>
      <p:grpSpPr>
        <a:xfrm>
          <a:off x="0" y="0"/>
          <a:ext cx="0" cy="0"/>
          <a:chOff x="0" y="0"/>
          <a:chExt cx="0" cy="0"/>
        </a:xfrm>
      </p:grpSpPr>
      <p:sp>
        <p:nvSpPr>
          <p:cNvPr id="2" name="Text 0"/>
          <p:cNvSpPr/>
          <p:nvPr/>
        </p:nvSpPr>
        <p:spPr>
          <a:xfrm>
            <a:off x="640080" y="502920"/>
            <a:ext cx="10908792" cy="201168"/>
          </a:xfrm>
          <a:prstGeom prst="rect">
            <a:avLst/>
          </a:prstGeom>
          <a:noFill/>
          <a:ln/>
        </p:spPr>
        <p:txBody>
          <a:bodyPr wrap="square" rtlCol="0" anchor="ctr"/>
          <a:lstStyle/>
          <a:p>
            <a:pPr indent="0" marL="0">
              <a:buNone/>
            </a:pPr>
            <a:r>
              <a:rPr lang="en-US" sz="900" b="1" spc="200" kern="0" dirty="0">
                <a:solidFill>
                  <a:srgbClr val="888880"/>
                </a:solidFill>
                <a:latin typeface="Arial" pitchFamily="34" charset="0"/>
                <a:ea typeface="Arial" pitchFamily="34" charset="-122"/>
                <a:cs typeface="Arial" pitchFamily="34" charset="-120"/>
              </a:rPr>
              <a:t>MARKET OPPORTUNITY</a:t>
            </a:r>
            <a:endParaRPr lang="en-US" sz="900" dirty="0"/>
          </a:p>
        </p:txBody>
      </p:sp>
      <p:sp>
        <p:nvSpPr>
          <p:cNvPr id="3" name="Text 1"/>
          <p:cNvSpPr/>
          <p:nvPr/>
        </p:nvSpPr>
        <p:spPr>
          <a:xfrm>
            <a:off x="640080" y="685800"/>
            <a:ext cx="10908792" cy="1463040"/>
          </a:xfrm>
          <a:prstGeom prst="rect">
            <a:avLst/>
          </a:prstGeom>
          <a:noFill/>
          <a:ln/>
        </p:spPr>
        <p:txBody>
          <a:bodyPr wrap="square" rtlCol="0" anchor="ctr"/>
          <a:lstStyle/>
          <a:p>
            <a:pPr indent="0" marL="0">
              <a:lnSpc>
                <a:spcPct val="110000"/>
              </a:lnSpc>
              <a:buNone/>
            </a:pPr>
            <a:r>
              <a:rPr lang="en-US" sz="3400" b="1" dirty="0">
                <a:solidFill>
                  <a:srgbClr val="111315"/>
                </a:solidFill>
                <a:latin typeface="Arial" pitchFamily="34" charset="0"/>
                <a:ea typeface="Arial" pitchFamily="34" charset="-122"/>
                <a:cs typeface="Arial" pitchFamily="34" charset="-120"/>
              </a:rPr>
              <a:t>A massive market</a:t>
            </a:r>
            <a:endParaRPr lang="en-US" sz="3400" dirty="0"/>
          </a:p>
          <a:p>
            <a:pPr indent="0" marL="0">
              <a:lnSpc>
                <a:spcPct val="110000"/>
              </a:lnSpc>
              <a:buNone/>
            </a:pPr>
            <a:r>
              <a:rPr lang="en-US" sz="3400" b="1" dirty="0">
                <a:solidFill>
                  <a:srgbClr val="111315"/>
                </a:solidFill>
                <a:latin typeface="Arial" pitchFamily="34" charset="0"/>
                <a:ea typeface="Arial" pitchFamily="34" charset="-122"/>
                <a:cs typeface="Arial" pitchFamily="34" charset="-120"/>
              </a:rPr>
              <a:t>still looking for better.</a:t>
            </a:r>
            <a:endParaRPr lang="en-US" sz="3400" dirty="0"/>
          </a:p>
        </p:txBody>
      </p:sp>
      <p:sp>
        <p:nvSpPr>
          <p:cNvPr id="4" name="Shape 2"/>
          <p:cNvSpPr/>
          <p:nvPr/>
        </p:nvSpPr>
        <p:spPr>
          <a:xfrm>
            <a:off x="640080" y="1874520"/>
            <a:ext cx="3474720" cy="1920240"/>
          </a:xfrm>
          <a:prstGeom prst="roundRect">
            <a:avLst>
              <a:gd name="adj" fmla="val 5714"/>
            </a:avLst>
          </a:prstGeom>
          <a:solidFill>
            <a:srgbClr val="FFFFFF"/>
          </a:solidFill>
          <a:ln w="9525">
            <a:solidFill>
              <a:srgbClr val="E0DDD6"/>
            </a:solidFill>
            <a:prstDash val="solid"/>
          </a:ln>
        </p:spPr>
      </p:sp>
      <p:sp>
        <p:nvSpPr>
          <p:cNvPr id="5" name="Text 3"/>
          <p:cNvSpPr/>
          <p:nvPr/>
        </p:nvSpPr>
        <p:spPr>
          <a:xfrm>
            <a:off x="868680" y="2057400"/>
            <a:ext cx="3108960" cy="822960"/>
          </a:xfrm>
          <a:prstGeom prst="rect">
            <a:avLst/>
          </a:prstGeom>
          <a:noFill/>
          <a:ln/>
        </p:spPr>
        <p:txBody>
          <a:bodyPr wrap="square" rtlCol="0" anchor="ctr"/>
          <a:lstStyle/>
          <a:p>
            <a:pPr indent="0" marL="0">
              <a:buNone/>
            </a:pPr>
            <a:r>
              <a:rPr lang="en-US" sz="3800" b="1" dirty="0">
                <a:solidFill>
                  <a:srgbClr val="4A7EF5"/>
                </a:solidFill>
                <a:latin typeface="Arial" pitchFamily="34" charset="0"/>
                <a:ea typeface="Arial" pitchFamily="34" charset="-122"/>
                <a:cs typeface="Arial" pitchFamily="34" charset="-120"/>
              </a:rPr>
              <a:t>$131B</a:t>
            </a:r>
            <a:endParaRPr lang="en-US" sz="3800" dirty="0"/>
          </a:p>
        </p:txBody>
      </p:sp>
      <p:sp>
        <p:nvSpPr>
          <p:cNvPr id="6" name="Text 4"/>
          <p:cNvSpPr/>
          <p:nvPr/>
        </p:nvSpPr>
        <p:spPr>
          <a:xfrm>
            <a:off x="868680" y="2788920"/>
            <a:ext cx="3108960" cy="640080"/>
          </a:xfrm>
          <a:prstGeom prst="rect">
            <a:avLst/>
          </a:prstGeom>
          <a:noFill/>
          <a:ln/>
        </p:spPr>
        <p:txBody>
          <a:bodyPr wrap="square" rtlCol="0" anchor="ctr"/>
          <a:lstStyle/>
          <a:p>
            <a:pPr indent="0" marL="0">
              <a:lnSpc>
                <a:spcPct val="140000"/>
              </a:lnSpc>
              <a:buNone/>
            </a:pPr>
            <a:r>
              <a:rPr lang="en-US" sz="1100" dirty="0">
                <a:solidFill>
                  <a:srgbClr val="888880"/>
                </a:solidFill>
                <a:latin typeface="Arial" pitchFamily="34" charset="0"/>
                <a:ea typeface="Arial" pitchFamily="34" charset="-122"/>
                <a:cs typeface="Arial" pitchFamily="34" charset="-120"/>
              </a:rPr>
              <a:t>Global productivity software market (2024)</a:t>
            </a:r>
            <a:endParaRPr lang="en-US" sz="1100" dirty="0"/>
          </a:p>
        </p:txBody>
      </p:sp>
      <p:sp>
        <p:nvSpPr>
          <p:cNvPr id="7" name="Shape 5"/>
          <p:cNvSpPr/>
          <p:nvPr/>
        </p:nvSpPr>
        <p:spPr>
          <a:xfrm>
            <a:off x="4343400" y="1874520"/>
            <a:ext cx="3474720" cy="1920240"/>
          </a:xfrm>
          <a:prstGeom prst="roundRect">
            <a:avLst>
              <a:gd name="adj" fmla="val 5714"/>
            </a:avLst>
          </a:prstGeom>
          <a:solidFill>
            <a:srgbClr val="FFFFFF"/>
          </a:solidFill>
          <a:ln w="9525">
            <a:solidFill>
              <a:srgbClr val="E0DDD6"/>
            </a:solidFill>
            <a:prstDash val="solid"/>
          </a:ln>
        </p:spPr>
      </p:sp>
      <p:sp>
        <p:nvSpPr>
          <p:cNvPr id="8" name="Text 6"/>
          <p:cNvSpPr/>
          <p:nvPr/>
        </p:nvSpPr>
        <p:spPr>
          <a:xfrm>
            <a:off x="4572000" y="2057400"/>
            <a:ext cx="3108960" cy="822960"/>
          </a:xfrm>
          <a:prstGeom prst="rect">
            <a:avLst/>
          </a:prstGeom>
          <a:noFill/>
          <a:ln/>
        </p:spPr>
        <p:txBody>
          <a:bodyPr wrap="square" rtlCol="0" anchor="ctr"/>
          <a:lstStyle/>
          <a:p>
            <a:pPr indent="0" marL="0">
              <a:buNone/>
            </a:pPr>
            <a:r>
              <a:rPr lang="en-US" sz="3800" b="1" dirty="0">
                <a:solidFill>
                  <a:srgbClr val="9B6FE8"/>
                </a:solidFill>
                <a:latin typeface="Arial" pitchFamily="34" charset="0"/>
                <a:ea typeface="Arial" pitchFamily="34" charset="-122"/>
                <a:cs typeface="Arial" pitchFamily="34" charset="-120"/>
              </a:rPr>
              <a:t>14.4%</a:t>
            </a:r>
            <a:endParaRPr lang="en-US" sz="3800" dirty="0"/>
          </a:p>
        </p:txBody>
      </p:sp>
      <p:sp>
        <p:nvSpPr>
          <p:cNvPr id="9" name="Text 7"/>
          <p:cNvSpPr/>
          <p:nvPr/>
        </p:nvSpPr>
        <p:spPr>
          <a:xfrm>
            <a:off x="4572000" y="2788920"/>
            <a:ext cx="3108960" cy="640080"/>
          </a:xfrm>
          <a:prstGeom prst="rect">
            <a:avLst/>
          </a:prstGeom>
          <a:noFill/>
          <a:ln/>
        </p:spPr>
        <p:txBody>
          <a:bodyPr wrap="square" rtlCol="0" anchor="ctr"/>
          <a:lstStyle/>
          <a:p>
            <a:pPr indent="0" marL="0">
              <a:lnSpc>
                <a:spcPct val="140000"/>
              </a:lnSpc>
              <a:buNone/>
            </a:pPr>
            <a:r>
              <a:rPr lang="en-US" sz="1100" dirty="0">
                <a:solidFill>
                  <a:srgbClr val="888880"/>
                </a:solidFill>
                <a:latin typeface="Arial" pitchFamily="34" charset="0"/>
                <a:ea typeface="Arial" pitchFamily="34" charset="-122"/>
                <a:cs typeface="Arial" pitchFamily="34" charset="-120"/>
              </a:rPr>
              <a:t>Projected CAGR through 2030</a:t>
            </a:r>
            <a:endParaRPr lang="en-US" sz="1100" dirty="0"/>
          </a:p>
        </p:txBody>
      </p:sp>
      <p:sp>
        <p:nvSpPr>
          <p:cNvPr id="10" name="Shape 8"/>
          <p:cNvSpPr/>
          <p:nvPr/>
        </p:nvSpPr>
        <p:spPr>
          <a:xfrm>
            <a:off x="8046720" y="1874520"/>
            <a:ext cx="3474720" cy="1920240"/>
          </a:xfrm>
          <a:prstGeom prst="roundRect">
            <a:avLst>
              <a:gd name="adj" fmla="val 5714"/>
            </a:avLst>
          </a:prstGeom>
          <a:solidFill>
            <a:srgbClr val="FFFFFF"/>
          </a:solidFill>
          <a:ln w="9525">
            <a:solidFill>
              <a:srgbClr val="E0DDD6"/>
            </a:solidFill>
            <a:prstDash val="solid"/>
          </a:ln>
        </p:spPr>
      </p:sp>
      <p:sp>
        <p:nvSpPr>
          <p:cNvPr id="11" name="Text 9"/>
          <p:cNvSpPr/>
          <p:nvPr/>
        </p:nvSpPr>
        <p:spPr>
          <a:xfrm>
            <a:off x="8275320" y="2057400"/>
            <a:ext cx="3108960" cy="822960"/>
          </a:xfrm>
          <a:prstGeom prst="rect">
            <a:avLst/>
          </a:prstGeom>
          <a:noFill/>
          <a:ln/>
        </p:spPr>
        <p:txBody>
          <a:bodyPr wrap="square" rtlCol="0" anchor="ctr"/>
          <a:lstStyle/>
          <a:p>
            <a:pPr indent="0" marL="0">
              <a:buNone/>
            </a:pPr>
            <a:r>
              <a:rPr lang="en-US" sz="3800" b="1" dirty="0">
                <a:solidFill>
                  <a:srgbClr val="3A9E56"/>
                </a:solidFill>
                <a:latin typeface="Arial" pitchFamily="34" charset="0"/>
                <a:ea typeface="Arial" pitchFamily="34" charset="-122"/>
                <a:cs typeface="Arial" pitchFamily="34" charset="-120"/>
              </a:rPr>
              <a:t>1.25B</a:t>
            </a:r>
            <a:endParaRPr lang="en-US" sz="3800" dirty="0"/>
          </a:p>
        </p:txBody>
      </p:sp>
      <p:sp>
        <p:nvSpPr>
          <p:cNvPr id="12" name="Text 10"/>
          <p:cNvSpPr/>
          <p:nvPr/>
        </p:nvSpPr>
        <p:spPr>
          <a:xfrm>
            <a:off x="8275320" y="2788920"/>
            <a:ext cx="3108960" cy="640080"/>
          </a:xfrm>
          <a:prstGeom prst="rect">
            <a:avLst/>
          </a:prstGeom>
          <a:noFill/>
          <a:ln/>
        </p:spPr>
        <p:txBody>
          <a:bodyPr wrap="square" rtlCol="0" anchor="ctr"/>
          <a:lstStyle/>
          <a:p>
            <a:pPr indent="0" marL="0">
              <a:lnSpc>
                <a:spcPct val="140000"/>
              </a:lnSpc>
              <a:buNone/>
            </a:pPr>
            <a:r>
              <a:rPr lang="en-US" sz="1100" dirty="0">
                <a:solidFill>
                  <a:srgbClr val="888880"/>
                </a:solidFill>
                <a:latin typeface="Arial" pitchFamily="34" charset="0"/>
                <a:ea typeface="Arial" pitchFamily="34" charset="-122"/>
                <a:cs typeface="Arial" pitchFamily="34" charset="-120"/>
              </a:rPr>
              <a:t>Knowledge workers globally — our core audience</a:t>
            </a:r>
            <a:endParaRPr lang="en-US" sz="1100" dirty="0"/>
          </a:p>
        </p:txBody>
      </p:sp>
      <p:sp>
        <p:nvSpPr>
          <p:cNvPr id="13" name="Shape 11"/>
          <p:cNvSpPr/>
          <p:nvPr/>
        </p:nvSpPr>
        <p:spPr>
          <a:xfrm>
            <a:off x="640080" y="4023360"/>
            <a:ext cx="10908792" cy="1554480"/>
          </a:xfrm>
          <a:prstGeom prst="roundRect">
            <a:avLst>
              <a:gd name="adj" fmla="val 7059"/>
            </a:avLst>
          </a:prstGeom>
          <a:solidFill>
            <a:srgbClr val="FFFFFF"/>
          </a:solidFill>
          <a:ln w="9525">
            <a:solidFill>
              <a:srgbClr val="E0DDD6"/>
            </a:solidFill>
            <a:prstDash val="solid"/>
          </a:ln>
        </p:spPr>
      </p:sp>
      <p:sp>
        <p:nvSpPr>
          <p:cNvPr id="14" name="Text 12"/>
          <p:cNvSpPr/>
          <p:nvPr/>
        </p:nvSpPr>
        <p:spPr>
          <a:xfrm>
            <a:off x="868680" y="4206240"/>
            <a:ext cx="1097280" cy="274320"/>
          </a:xfrm>
          <a:prstGeom prst="rect">
            <a:avLst/>
          </a:prstGeom>
          <a:noFill/>
          <a:ln/>
        </p:spPr>
        <p:txBody>
          <a:bodyPr wrap="square" rtlCol="0" anchor="ctr"/>
          <a:lstStyle/>
          <a:p>
            <a:pPr indent="0" marL="0">
              <a:buNone/>
            </a:pPr>
            <a:r>
              <a:rPr lang="en-US" sz="1200" b="1" dirty="0">
                <a:solidFill>
                  <a:srgbClr val="111315"/>
                </a:solidFill>
                <a:latin typeface="Arial" pitchFamily="34" charset="0"/>
                <a:ea typeface="Arial" pitchFamily="34" charset="-122"/>
                <a:cs typeface="Arial" pitchFamily="34" charset="-120"/>
              </a:rPr>
              <a:t>Our wedge:</a:t>
            </a:r>
            <a:endParaRPr lang="en-US" sz="1200" dirty="0"/>
          </a:p>
        </p:txBody>
      </p:sp>
      <p:sp>
        <p:nvSpPr>
          <p:cNvPr id="15" name="Text 13"/>
          <p:cNvSpPr/>
          <p:nvPr/>
        </p:nvSpPr>
        <p:spPr>
          <a:xfrm>
            <a:off x="868680" y="4535424"/>
            <a:ext cx="10451592" cy="822960"/>
          </a:xfrm>
          <a:prstGeom prst="rect">
            <a:avLst/>
          </a:prstGeom>
          <a:noFill/>
          <a:ln/>
        </p:spPr>
        <p:txBody>
          <a:bodyPr wrap="square" rtlCol="0" anchor="ctr"/>
          <a:lstStyle/>
          <a:p>
            <a:pPr indent="0" marL="0">
              <a:lnSpc>
                <a:spcPct val="150000"/>
              </a:lnSpc>
              <a:buNone/>
            </a:pPr>
            <a:r>
              <a:rPr lang="en-US" sz="1150" dirty="0">
                <a:solidFill>
                  <a:srgbClr val="888880"/>
                </a:solidFill>
                <a:latin typeface="Arial" pitchFamily="34" charset="0"/>
                <a:ea typeface="Arial" pitchFamily="34" charset="-122"/>
                <a:cs typeface="Arial" pitchFamily="34" charset="-120"/>
              </a:rPr>
              <a:t>Boardtivity targets individuals and small teams who find Notion too heavy, Trello too simple, and Obsidian too nerdy. We sit at the intersection of visual task management, idea capture, and AI-assisted focus — a combination no one else owns.</a:t>
            </a:r>
            <a:endParaRPr lang="en-US" sz="1150" dirty="0"/>
          </a:p>
        </p:txBody>
      </p:sp>
      <p:sp>
        <p:nvSpPr>
          <p:cNvPr id="16" name="Text 14"/>
          <p:cNvSpPr/>
          <p:nvPr/>
        </p:nvSpPr>
        <p:spPr>
          <a:xfrm>
            <a:off x="11000232" y="6446520"/>
            <a:ext cx="914400" cy="274320"/>
          </a:xfrm>
          <a:prstGeom prst="rect">
            <a:avLst/>
          </a:prstGeom>
          <a:noFill/>
          <a:ln/>
        </p:spPr>
        <p:txBody>
          <a:bodyPr wrap="square" rtlCol="0" anchor="ctr"/>
          <a:lstStyle/>
          <a:p>
            <a:pPr algn="r" indent="0" marL="0">
              <a:buNone/>
            </a:pPr>
            <a:r>
              <a:rPr lang="en-US" sz="900" dirty="0">
                <a:solidFill>
                  <a:srgbClr val="888880"/>
                </a:solidFill>
                <a:latin typeface="Arial" pitchFamily="34" charset="0"/>
                <a:ea typeface="Arial" pitchFamily="34" charset="-122"/>
                <a:cs typeface="Arial" pitchFamily="34" charset="-120"/>
              </a:rPr>
              <a:t>06 / 09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1EB"/>
        </a:solidFill>
      </p:bgPr>
    </p:bg>
    <p:spTree>
      <p:nvGrpSpPr>
        <p:cNvPr id="1" name=""/>
        <p:cNvGrpSpPr/>
        <p:nvPr/>
      </p:nvGrpSpPr>
      <p:grpSpPr>
        <a:xfrm>
          <a:off x="0" y="0"/>
          <a:ext cx="0" cy="0"/>
          <a:chOff x="0" y="0"/>
          <a:chExt cx="0" cy="0"/>
        </a:xfrm>
      </p:grpSpPr>
      <p:sp>
        <p:nvSpPr>
          <p:cNvPr id="2" name="Text 0"/>
          <p:cNvSpPr/>
          <p:nvPr/>
        </p:nvSpPr>
        <p:spPr>
          <a:xfrm>
            <a:off x="640080" y="502920"/>
            <a:ext cx="10908792" cy="201168"/>
          </a:xfrm>
          <a:prstGeom prst="rect">
            <a:avLst/>
          </a:prstGeom>
          <a:noFill/>
          <a:ln/>
        </p:spPr>
        <p:txBody>
          <a:bodyPr wrap="square" rtlCol="0" anchor="ctr"/>
          <a:lstStyle/>
          <a:p>
            <a:pPr indent="0" marL="0">
              <a:buNone/>
            </a:pPr>
            <a:r>
              <a:rPr lang="en-US" sz="900" b="1" spc="200" kern="0" dirty="0">
                <a:solidFill>
                  <a:srgbClr val="888880"/>
                </a:solidFill>
                <a:latin typeface="Arial" pitchFamily="34" charset="0"/>
                <a:ea typeface="Arial" pitchFamily="34" charset="-122"/>
                <a:cs typeface="Arial" pitchFamily="34" charset="-120"/>
              </a:rPr>
              <a:t>BUSINESS MODEL</a:t>
            </a:r>
            <a:endParaRPr lang="en-US" sz="900" dirty="0"/>
          </a:p>
        </p:txBody>
      </p:sp>
      <p:sp>
        <p:nvSpPr>
          <p:cNvPr id="3" name="Text 1"/>
          <p:cNvSpPr/>
          <p:nvPr/>
        </p:nvSpPr>
        <p:spPr>
          <a:xfrm>
            <a:off x="640080" y="685800"/>
            <a:ext cx="10908792" cy="1463040"/>
          </a:xfrm>
          <a:prstGeom prst="rect">
            <a:avLst/>
          </a:prstGeom>
          <a:noFill/>
          <a:ln/>
        </p:spPr>
        <p:txBody>
          <a:bodyPr wrap="square" rtlCol="0" anchor="ctr"/>
          <a:lstStyle/>
          <a:p>
            <a:pPr indent="0" marL="0">
              <a:lnSpc>
                <a:spcPct val="110000"/>
              </a:lnSpc>
              <a:buNone/>
            </a:pPr>
            <a:r>
              <a:rPr lang="en-US" sz="3400" b="1" dirty="0">
                <a:solidFill>
                  <a:srgbClr val="111315"/>
                </a:solidFill>
                <a:latin typeface="Arial" pitchFamily="34" charset="0"/>
                <a:ea typeface="Arial" pitchFamily="34" charset="-122"/>
                <a:cs typeface="Arial" pitchFamily="34" charset="-120"/>
              </a:rPr>
              <a:t>Free to start.</a:t>
            </a:r>
            <a:endParaRPr lang="en-US" sz="3400" dirty="0"/>
          </a:p>
          <a:p>
            <a:pPr indent="0" marL="0">
              <a:lnSpc>
                <a:spcPct val="110000"/>
              </a:lnSpc>
              <a:buNone/>
            </a:pPr>
            <a:r>
              <a:rPr lang="en-US" sz="3400" b="1" dirty="0">
                <a:solidFill>
                  <a:srgbClr val="111315"/>
                </a:solidFill>
                <a:latin typeface="Arial" pitchFamily="34" charset="0"/>
                <a:ea typeface="Arial" pitchFamily="34" charset="-122"/>
                <a:cs typeface="Arial" pitchFamily="34" charset="-120"/>
              </a:rPr>
              <a:t>Plus for power users.</a:t>
            </a:r>
            <a:endParaRPr lang="en-US" sz="3400" dirty="0"/>
          </a:p>
        </p:txBody>
      </p:sp>
      <p:sp>
        <p:nvSpPr>
          <p:cNvPr id="4" name="Text 2"/>
          <p:cNvSpPr/>
          <p:nvPr/>
        </p:nvSpPr>
        <p:spPr>
          <a:xfrm>
            <a:off x="640080" y="1783080"/>
            <a:ext cx="7772400" cy="731520"/>
          </a:xfrm>
          <a:prstGeom prst="rect">
            <a:avLst/>
          </a:prstGeom>
          <a:noFill/>
          <a:ln/>
        </p:spPr>
        <p:txBody>
          <a:bodyPr wrap="square" rtlCol="0" anchor="ctr"/>
          <a:lstStyle/>
          <a:p>
            <a:pPr indent="0" marL="0">
              <a:lnSpc>
                <a:spcPct val="150000"/>
              </a:lnSpc>
              <a:buNone/>
            </a:pPr>
            <a:r>
              <a:rPr lang="en-US" sz="1400" dirty="0">
                <a:solidFill>
                  <a:srgbClr val="888880"/>
                </a:solidFill>
                <a:latin typeface="Arial" pitchFamily="34" charset="0"/>
                <a:ea typeface="Arial" pitchFamily="34" charset="-122"/>
                <a:cs typeface="Arial" pitchFamily="34" charset="-120"/>
              </a:rPr>
              <a:t>A freemium model that gets users hooked on the core experience, then converts naturally when they need more boards.</a:t>
            </a:r>
            <a:endParaRPr lang="en-US" sz="1400" dirty="0"/>
          </a:p>
        </p:txBody>
      </p:sp>
      <p:sp>
        <p:nvSpPr>
          <p:cNvPr id="5" name="Shape 3"/>
          <p:cNvSpPr/>
          <p:nvPr/>
        </p:nvSpPr>
        <p:spPr>
          <a:xfrm>
            <a:off x="640080" y="2606040"/>
            <a:ext cx="5349240" cy="3749040"/>
          </a:xfrm>
          <a:prstGeom prst="roundRect">
            <a:avLst>
              <a:gd name="adj" fmla="val 2927"/>
            </a:avLst>
          </a:prstGeom>
          <a:solidFill>
            <a:srgbClr val="FFFFFF"/>
          </a:solidFill>
          <a:ln w="9525">
            <a:solidFill>
              <a:srgbClr val="E0DDD6"/>
            </a:solidFill>
            <a:prstDash val="solid"/>
          </a:ln>
        </p:spPr>
      </p:sp>
      <p:sp>
        <p:nvSpPr>
          <p:cNvPr id="6" name="Text 4"/>
          <p:cNvSpPr/>
          <p:nvPr/>
        </p:nvSpPr>
        <p:spPr>
          <a:xfrm>
            <a:off x="868680" y="2788920"/>
            <a:ext cx="1828800" cy="201168"/>
          </a:xfrm>
          <a:prstGeom prst="rect">
            <a:avLst/>
          </a:prstGeom>
          <a:noFill/>
          <a:ln/>
        </p:spPr>
        <p:txBody>
          <a:bodyPr wrap="square" rtlCol="0" anchor="ctr"/>
          <a:lstStyle/>
          <a:p>
            <a:pPr indent="0" marL="0">
              <a:buNone/>
            </a:pPr>
            <a:r>
              <a:rPr lang="en-US" sz="900" b="1" spc="200" kern="0" dirty="0">
                <a:solidFill>
                  <a:srgbClr val="888880"/>
                </a:solidFill>
                <a:latin typeface="Arial" pitchFamily="34" charset="0"/>
                <a:ea typeface="Arial" pitchFamily="34" charset="-122"/>
                <a:cs typeface="Arial" pitchFamily="34" charset="-120"/>
              </a:rPr>
              <a:t>FREE</a:t>
            </a:r>
            <a:endParaRPr lang="en-US" sz="900" dirty="0"/>
          </a:p>
        </p:txBody>
      </p:sp>
      <p:sp>
        <p:nvSpPr>
          <p:cNvPr id="7" name="Text 5"/>
          <p:cNvSpPr/>
          <p:nvPr/>
        </p:nvSpPr>
        <p:spPr>
          <a:xfrm>
            <a:off x="868680" y="3035808"/>
            <a:ext cx="1828800" cy="658368"/>
          </a:xfrm>
          <a:prstGeom prst="rect">
            <a:avLst/>
          </a:prstGeom>
          <a:noFill/>
          <a:ln/>
        </p:spPr>
        <p:txBody>
          <a:bodyPr wrap="square" rtlCol="0" anchor="ctr"/>
          <a:lstStyle/>
          <a:p>
            <a:pPr indent="0" marL="0">
              <a:buNone/>
            </a:pPr>
            <a:r>
              <a:rPr lang="en-US" sz="4000" b="1" dirty="0">
                <a:solidFill>
                  <a:srgbClr val="111315"/>
                </a:solidFill>
                <a:latin typeface="Arial" pitchFamily="34" charset="0"/>
                <a:ea typeface="Arial" pitchFamily="34" charset="-122"/>
                <a:cs typeface="Arial" pitchFamily="34" charset="-120"/>
              </a:rPr>
              <a:t>$0</a:t>
            </a:r>
            <a:endParaRPr lang="en-US" sz="4000" dirty="0"/>
          </a:p>
        </p:txBody>
      </p:sp>
      <p:sp>
        <p:nvSpPr>
          <p:cNvPr id="8" name="Text 6"/>
          <p:cNvSpPr/>
          <p:nvPr/>
        </p:nvSpPr>
        <p:spPr>
          <a:xfrm>
            <a:off x="868680" y="3611880"/>
            <a:ext cx="4892040" cy="256032"/>
          </a:xfrm>
          <a:prstGeom prst="rect">
            <a:avLst/>
          </a:prstGeom>
          <a:noFill/>
          <a:ln/>
        </p:spPr>
        <p:txBody>
          <a:bodyPr wrap="square" rtlCol="0" anchor="ctr"/>
          <a:lstStyle/>
          <a:p>
            <a:pPr indent="0" marL="0">
              <a:buNone/>
            </a:pPr>
            <a:r>
              <a:rPr lang="en-US" sz="1100" dirty="0">
                <a:solidFill>
                  <a:srgbClr val="888880"/>
                </a:solidFill>
                <a:latin typeface="Arial" pitchFamily="34" charset="0"/>
                <a:ea typeface="Arial" pitchFamily="34" charset="-122"/>
                <a:cs typeface="Arial" pitchFamily="34" charset="-120"/>
              </a:rPr>
              <a:t>Forever free, no credit card</a:t>
            </a:r>
            <a:endParaRPr lang="en-US" sz="1100" dirty="0"/>
          </a:p>
        </p:txBody>
      </p:sp>
      <p:sp>
        <p:nvSpPr>
          <p:cNvPr id="9" name="Text 7"/>
          <p:cNvSpPr/>
          <p:nvPr/>
        </p:nvSpPr>
        <p:spPr>
          <a:xfrm>
            <a:off x="868680" y="3968496"/>
            <a:ext cx="4892040" cy="256032"/>
          </a:xfrm>
          <a:prstGeom prst="rect">
            <a:avLst/>
          </a:prstGeom>
          <a:noFill/>
          <a:ln/>
        </p:spPr>
        <p:txBody>
          <a:bodyPr wrap="square" rtlCol="0" anchor="ctr"/>
          <a:lstStyle/>
          <a:p>
            <a:pPr indent="0" marL="0">
              <a:buNone/>
            </a:pPr>
            <a:r>
              <a:rPr lang="en-US" sz="1150" dirty="0">
                <a:solidFill>
                  <a:srgbClr val="111315"/>
                </a:solidFill>
                <a:latin typeface="Arial" pitchFamily="34" charset="0"/>
                <a:ea typeface="Arial" pitchFamily="34" charset="-122"/>
                <a:cs typeface="Arial" pitchFamily="34" charset="-120"/>
              </a:rPr>
              <a:t>✓  1 task board + 1 idea board</a:t>
            </a:r>
            <a:endParaRPr lang="en-US" sz="1150" dirty="0"/>
          </a:p>
        </p:txBody>
      </p:sp>
      <p:sp>
        <p:nvSpPr>
          <p:cNvPr id="10" name="Text 8"/>
          <p:cNvSpPr/>
          <p:nvPr/>
        </p:nvSpPr>
        <p:spPr>
          <a:xfrm>
            <a:off x="868680" y="4288536"/>
            <a:ext cx="4892040" cy="256032"/>
          </a:xfrm>
          <a:prstGeom prst="rect">
            <a:avLst/>
          </a:prstGeom>
          <a:noFill/>
          <a:ln/>
        </p:spPr>
        <p:txBody>
          <a:bodyPr wrap="square" rtlCol="0" anchor="ctr"/>
          <a:lstStyle/>
          <a:p>
            <a:pPr indent="0" marL="0">
              <a:buNone/>
            </a:pPr>
            <a:r>
              <a:rPr lang="en-US" sz="1150" dirty="0">
                <a:solidFill>
                  <a:srgbClr val="111315"/>
                </a:solidFill>
                <a:latin typeface="Arial" pitchFamily="34" charset="0"/>
                <a:ea typeface="Arial" pitchFamily="34" charset="-122"/>
                <a:cs typeface="Arial" pitchFamily="34" charset="-120"/>
              </a:rPr>
              <a:t>✓  AI task breakdown</a:t>
            </a:r>
            <a:endParaRPr lang="en-US" sz="1150" dirty="0"/>
          </a:p>
        </p:txBody>
      </p:sp>
      <p:sp>
        <p:nvSpPr>
          <p:cNvPr id="11" name="Text 9"/>
          <p:cNvSpPr/>
          <p:nvPr/>
        </p:nvSpPr>
        <p:spPr>
          <a:xfrm>
            <a:off x="868680" y="4608576"/>
            <a:ext cx="4892040" cy="256032"/>
          </a:xfrm>
          <a:prstGeom prst="rect">
            <a:avLst/>
          </a:prstGeom>
          <a:noFill/>
          <a:ln/>
        </p:spPr>
        <p:txBody>
          <a:bodyPr wrap="square" rtlCol="0" anchor="ctr"/>
          <a:lstStyle/>
          <a:p>
            <a:pPr indent="0" marL="0">
              <a:buNone/>
            </a:pPr>
            <a:r>
              <a:rPr lang="en-US" sz="1150" dirty="0">
                <a:solidFill>
                  <a:srgbClr val="111315"/>
                </a:solidFill>
                <a:latin typeface="Arial" pitchFamily="34" charset="0"/>
                <a:ea typeface="Arial" pitchFamily="34" charset="-122"/>
                <a:cs typeface="Arial" pitchFamily="34" charset="-120"/>
              </a:rPr>
              <a:t>✓  Focus mode</a:t>
            </a:r>
            <a:endParaRPr lang="en-US" sz="1150" dirty="0"/>
          </a:p>
        </p:txBody>
      </p:sp>
      <p:sp>
        <p:nvSpPr>
          <p:cNvPr id="12" name="Text 10"/>
          <p:cNvSpPr/>
          <p:nvPr/>
        </p:nvSpPr>
        <p:spPr>
          <a:xfrm>
            <a:off x="868680" y="4928616"/>
            <a:ext cx="4892040" cy="256032"/>
          </a:xfrm>
          <a:prstGeom prst="rect">
            <a:avLst/>
          </a:prstGeom>
          <a:noFill/>
          <a:ln/>
        </p:spPr>
        <p:txBody>
          <a:bodyPr wrap="square" rtlCol="0" anchor="ctr"/>
          <a:lstStyle/>
          <a:p>
            <a:pPr indent="0" marL="0">
              <a:buNone/>
            </a:pPr>
            <a:r>
              <a:rPr lang="en-US" sz="1150" dirty="0">
                <a:solidFill>
                  <a:srgbClr val="111315"/>
                </a:solidFill>
                <a:latin typeface="Arial" pitchFamily="34" charset="0"/>
                <a:ea typeface="Arial" pitchFamily="34" charset="-122"/>
                <a:cs typeface="Arial" pitchFamily="34" charset="-120"/>
              </a:rPr>
              <a:t>✓  Cross-device sync</a:t>
            </a:r>
            <a:endParaRPr lang="en-US" sz="1150" dirty="0"/>
          </a:p>
        </p:txBody>
      </p:sp>
      <p:sp>
        <p:nvSpPr>
          <p:cNvPr id="13" name="Text 11"/>
          <p:cNvSpPr/>
          <p:nvPr/>
        </p:nvSpPr>
        <p:spPr>
          <a:xfrm>
            <a:off x="868680" y="5248656"/>
            <a:ext cx="4892040" cy="256032"/>
          </a:xfrm>
          <a:prstGeom prst="rect">
            <a:avLst/>
          </a:prstGeom>
          <a:noFill/>
          <a:ln/>
        </p:spPr>
        <p:txBody>
          <a:bodyPr wrap="square" rtlCol="0" anchor="ctr"/>
          <a:lstStyle/>
          <a:p>
            <a:pPr indent="0" marL="0">
              <a:buNone/>
            </a:pPr>
            <a:r>
              <a:rPr lang="en-US" sz="1150" dirty="0">
                <a:solidFill>
                  <a:srgbClr val="111315"/>
                </a:solidFill>
                <a:latin typeface="Arial" pitchFamily="34" charset="0"/>
                <a:ea typeface="Arial" pitchFamily="34" charset="-122"/>
                <a:cs typeface="Arial" pitchFamily="34" charset="-120"/>
              </a:rPr>
              <a:t>✓  Dark mode</a:t>
            </a:r>
            <a:endParaRPr lang="en-US" sz="1150" dirty="0"/>
          </a:p>
        </p:txBody>
      </p:sp>
      <p:sp>
        <p:nvSpPr>
          <p:cNvPr id="14" name="Shape 12"/>
          <p:cNvSpPr/>
          <p:nvPr/>
        </p:nvSpPr>
        <p:spPr>
          <a:xfrm>
            <a:off x="6245352" y="2606040"/>
            <a:ext cx="5349240" cy="3749040"/>
          </a:xfrm>
          <a:prstGeom prst="roundRect">
            <a:avLst>
              <a:gd name="adj" fmla="val 2927"/>
            </a:avLst>
          </a:prstGeom>
          <a:solidFill>
            <a:srgbClr val="111315"/>
          </a:solidFill>
          <a:ln w="12700">
            <a:solidFill>
              <a:srgbClr val="111315"/>
            </a:solidFill>
            <a:prstDash val="solid"/>
          </a:ln>
        </p:spPr>
      </p:sp>
      <p:sp>
        <p:nvSpPr>
          <p:cNvPr id="15" name="Text 13"/>
          <p:cNvSpPr/>
          <p:nvPr/>
        </p:nvSpPr>
        <p:spPr>
          <a:xfrm>
            <a:off x="6473952" y="2788920"/>
            <a:ext cx="1828800" cy="201168"/>
          </a:xfrm>
          <a:prstGeom prst="rect">
            <a:avLst/>
          </a:prstGeom>
          <a:noFill/>
          <a:ln/>
        </p:spPr>
        <p:txBody>
          <a:bodyPr wrap="square" rtlCol="0" anchor="ctr"/>
          <a:lstStyle/>
          <a:p>
            <a:pPr indent="0" marL="0">
              <a:buNone/>
            </a:pPr>
            <a:r>
              <a:rPr lang="en-US" sz="900" b="1" spc="200" kern="0" dirty="0">
                <a:solidFill>
                  <a:srgbClr val="444444"/>
                </a:solidFill>
                <a:latin typeface="Arial" pitchFamily="34" charset="0"/>
                <a:ea typeface="Arial" pitchFamily="34" charset="-122"/>
                <a:cs typeface="Arial" pitchFamily="34" charset="-120"/>
              </a:rPr>
              <a:t>PLUS</a:t>
            </a:r>
            <a:endParaRPr lang="en-US" sz="900" dirty="0"/>
          </a:p>
        </p:txBody>
      </p:sp>
      <p:sp>
        <p:nvSpPr>
          <p:cNvPr id="16" name="Text 14"/>
          <p:cNvSpPr/>
          <p:nvPr/>
        </p:nvSpPr>
        <p:spPr>
          <a:xfrm>
            <a:off x="6473952" y="3035808"/>
            <a:ext cx="1097280" cy="658368"/>
          </a:xfrm>
          <a:prstGeom prst="rect">
            <a:avLst/>
          </a:prstGeom>
          <a:noFill/>
          <a:ln/>
        </p:spPr>
        <p:txBody>
          <a:bodyPr wrap="square" rtlCol="0" anchor="ctr"/>
          <a:lstStyle/>
          <a:p>
            <a:pPr indent="0" marL="0">
              <a:buNone/>
            </a:pPr>
            <a:r>
              <a:rPr lang="en-US" sz="4000" b="1" dirty="0">
                <a:solidFill>
                  <a:srgbClr val="FFFFFF"/>
                </a:solidFill>
                <a:latin typeface="Arial" pitchFamily="34" charset="0"/>
                <a:ea typeface="Arial" pitchFamily="34" charset="-122"/>
                <a:cs typeface="Arial" pitchFamily="34" charset="-120"/>
              </a:rPr>
              <a:t>$8</a:t>
            </a:r>
            <a:endParaRPr lang="en-US" sz="4000" dirty="0"/>
          </a:p>
        </p:txBody>
      </p:sp>
      <p:sp>
        <p:nvSpPr>
          <p:cNvPr id="17" name="Text 15"/>
          <p:cNvSpPr/>
          <p:nvPr/>
        </p:nvSpPr>
        <p:spPr>
          <a:xfrm>
            <a:off x="7434072" y="3429000"/>
            <a:ext cx="914400" cy="274320"/>
          </a:xfrm>
          <a:prstGeom prst="rect">
            <a:avLst/>
          </a:prstGeom>
          <a:noFill/>
          <a:ln/>
        </p:spPr>
        <p:txBody>
          <a:bodyPr wrap="square" rtlCol="0" anchor="ctr"/>
          <a:lstStyle/>
          <a:p>
            <a:pPr indent="0" marL="0">
              <a:buNone/>
            </a:pPr>
            <a:r>
              <a:rPr lang="en-US" sz="1600" b="1" dirty="0">
                <a:solidFill>
                  <a:srgbClr val="666666"/>
                </a:solidFill>
                <a:latin typeface="Arial" pitchFamily="34" charset="0"/>
                <a:ea typeface="Arial" pitchFamily="34" charset="-122"/>
                <a:cs typeface="Arial" pitchFamily="34" charset="-120"/>
              </a:rPr>
              <a:t>/mo</a:t>
            </a:r>
            <a:endParaRPr lang="en-US" sz="1600" dirty="0"/>
          </a:p>
        </p:txBody>
      </p:sp>
      <p:sp>
        <p:nvSpPr>
          <p:cNvPr id="18" name="Text 16"/>
          <p:cNvSpPr/>
          <p:nvPr/>
        </p:nvSpPr>
        <p:spPr>
          <a:xfrm>
            <a:off x="6473952" y="3611880"/>
            <a:ext cx="4892040" cy="256032"/>
          </a:xfrm>
          <a:prstGeom prst="rect">
            <a:avLst/>
          </a:prstGeom>
          <a:noFill/>
          <a:ln/>
        </p:spPr>
        <p:txBody>
          <a:bodyPr wrap="square" rtlCol="0" anchor="ctr"/>
          <a:lstStyle/>
          <a:p>
            <a:pPr indent="0" marL="0">
              <a:buNone/>
            </a:pPr>
            <a:r>
              <a:rPr lang="en-US" sz="1100" dirty="0">
                <a:solidFill>
                  <a:srgbClr val="666666"/>
                </a:solidFill>
                <a:latin typeface="Arial" pitchFamily="34" charset="0"/>
                <a:ea typeface="Arial" pitchFamily="34" charset="-122"/>
                <a:cs typeface="Arial" pitchFamily="34" charset="-120"/>
              </a:rPr>
              <a:t>Everything in Free, plus:</a:t>
            </a:r>
            <a:endParaRPr lang="en-US" sz="1100" dirty="0"/>
          </a:p>
        </p:txBody>
      </p:sp>
      <p:sp>
        <p:nvSpPr>
          <p:cNvPr id="19" name="Text 17"/>
          <p:cNvSpPr/>
          <p:nvPr/>
        </p:nvSpPr>
        <p:spPr>
          <a:xfrm>
            <a:off x="6473952" y="3968496"/>
            <a:ext cx="4892040" cy="256032"/>
          </a:xfrm>
          <a:prstGeom prst="rect">
            <a:avLst/>
          </a:prstGeom>
          <a:noFill/>
          <a:ln/>
        </p:spPr>
        <p:txBody>
          <a:bodyPr wrap="square" rtlCol="0" anchor="ctr"/>
          <a:lstStyle/>
          <a:p>
            <a:pPr indent="0" marL="0">
              <a:buNone/>
            </a:pPr>
            <a:r>
              <a:rPr lang="en-US" sz="1150" dirty="0">
                <a:solidFill>
                  <a:srgbClr val="FFFFFF"/>
                </a:solidFill>
                <a:latin typeface="Arial" pitchFamily="34" charset="0"/>
                <a:ea typeface="Arial" pitchFamily="34" charset="-122"/>
                <a:cs typeface="Arial" pitchFamily="34" charset="-120"/>
              </a:rPr>
              <a:t>✓  Unlimited task &amp; idea boards</a:t>
            </a:r>
            <a:endParaRPr lang="en-US" sz="1150" dirty="0"/>
          </a:p>
        </p:txBody>
      </p:sp>
      <p:sp>
        <p:nvSpPr>
          <p:cNvPr id="20" name="Text 18"/>
          <p:cNvSpPr/>
          <p:nvPr/>
        </p:nvSpPr>
        <p:spPr>
          <a:xfrm>
            <a:off x="6473952" y="4288536"/>
            <a:ext cx="4892040" cy="256032"/>
          </a:xfrm>
          <a:prstGeom prst="rect">
            <a:avLst/>
          </a:prstGeom>
          <a:noFill/>
          <a:ln/>
        </p:spPr>
        <p:txBody>
          <a:bodyPr wrap="square" rtlCol="0" anchor="ctr"/>
          <a:lstStyle/>
          <a:p>
            <a:pPr indent="0" marL="0">
              <a:buNone/>
            </a:pPr>
            <a:r>
              <a:rPr lang="en-US" sz="1150" dirty="0">
                <a:solidFill>
                  <a:srgbClr val="FFFFFF"/>
                </a:solidFill>
                <a:latin typeface="Arial" pitchFamily="34" charset="0"/>
                <a:ea typeface="Arial" pitchFamily="34" charset="-122"/>
                <a:cs typeface="Arial" pitchFamily="34" charset="-120"/>
              </a:rPr>
              <a:t>✓  Priority support</a:t>
            </a:r>
            <a:endParaRPr lang="en-US" sz="1150" dirty="0"/>
          </a:p>
        </p:txBody>
      </p:sp>
      <p:sp>
        <p:nvSpPr>
          <p:cNvPr id="21" name="Text 19"/>
          <p:cNvSpPr/>
          <p:nvPr/>
        </p:nvSpPr>
        <p:spPr>
          <a:xfrm>
            <a:off x="6473952" y="4608576"/>
            <a:ext cx="4892040" cy="256032"/>
          </a:xfrm>
          <a:prstGeom prst="rect">
            <a:avLst/>
          </a:prstGeom>
          <a:noFill/>
          <a:ln/>
        </p:spPr>
        <p:txBody>
          <a:bodyPr wrap="square" rtlCol="0" anchor="ctr"/>
          <a:lstStyle/>
          <a:p>
            <a:pPr indent="0" marL="0">
              <a:buNone/>
            </a:pPr>
            <a:r>
              <a:rPr lang="en-US" sz="1150" dirty="0">
                <a:solidFill>
                  <a:srgbClr val="FFFFFF"/>
                </a:solidFill>
                <a:latin typeface="Arial" pitchFamily="34" charset="0"/>
                <a:ea typeface="Arial" pitchFamily="34" charset="-122"/>
                <a:cs typeface="Arial" pitchFamily="34" charset="-120"/>
              </a:rPr>
              <a:t>✓  Early access to new features</a:t>
            </a:r>
            <a:endParaRPr lang="en-US" sz="1150" dirty="0"/>
          </a:p>
        </p:txBody>
      </p:sp>
      <p:sp>
        <p:nvSpPr>
          <p:cNvPr id="22" name="Text 20"/>
          <p:cNvSpPr/>
          <p:nvPr/>
        </p:nvSpPr>
        <p:spPr>
          <a:xfrm>
            <a:off x="6473952" y="4928616"/>
            <a:ext cx="4892040" cy="256032"/>
          </a:xfrm>
          <a:prstGeom prst="rect">
            <a:avLst/>
          </a:prstGeom>
          <a:noFill/>
          <a:ln/>
        </p:spPr>
        <p:txBody>
          <a:bodyPr wrap="square" rtlCol="0" anchor="ctr"/>
          <a:lstStyle/>
          <a:p>
            <a:pPr indent="0" marL="0">
              <a:buNone/>
            </a:pPr>
            <a:r>
              <a:rPr lang="en-US" sz="1150" dirty="0">
                <a:solidFill>
                  <a:srgbClr val="FFFFFF"/>
                </a:solidFill>
                <a:latin typeface="Arial" pitchFamily="34" charset="0"/>
                <a:ea typeface="Arial" pitchFamily="34" charset="-122"/>
                <a:cs typeface="Arial" pitchFamily="34" charset="-120"/>
              </a:rPr>
              <a:t>✓  Export &amp; integrations (roadmap)</a:t>
            </a:r>
            <a:endParaRPr lang="en-US" sz="1150" dirty="0"/>
          </a:p>
        </p:txBody>
      </p:sp>
      <p:sp>
        <p:nvSpPr>
          <p:cNvPr id="23" name="Text 21"/>
          <p:cNvSpPr/>
          <p:nvPr/>
        </p:nvSpPr>
        <p:spPr>
          <a:xfrm>
            <a:off x="6473952" y="5248656"/>
            <a:ext cx="4892040" cy="256032"/>
          </a:xfrm>
          <a:prstGeom prst="rect">
            <a:avLst/>
          </a:prstGeom>
          <a:noFill/>
          <a:ln/>
        </p:spPr>
        <p:txBody>
          <a:bodyPr wrap="square" rtlCol="0" anchor="ctr"/>
          <a:lstStyle/>
          <a:p>
            <a:pPr indent="0" marL="0">
              <a:buNone/>
            </a:pPr>
            <a:r>
              <a:rPr lang="en-US" sz="1150" dirty="0">
                <a:solidFill>
                  <a:srgbClr val="FFFFFF"/>
                </a:solidFill>
                <a:latin typeface="Arial" pitchFamily="34" charset="0"/>
                <a:ea typeface="Arial" pitchFamily="34" charset="-122"/>
                <a:cs typeface="Arial" pitchFamily="34" charset="-120"/>
              </a:rPr>
              <a:t>✓  Lock in launch pricing</a:t>
            </a:r>
            <a:endParaRPr lang="en-US" sz="1150" dirty="0"/>
          </a:p>
        </p:txBody>
      </p:sp>
      <p:sp>
        <p:nvSpPr>
          <p:cNvPr id="24" name="Text 22"/>
          <p:cNvSpPr/>
          <p:nvPr/>
        </p:nvSpPr>
        <p:spPr>
          <a:xfrm>
            <a:off x="11000232" y="6446520"/>
            <a:ext cx="914400" cy="274320"/>
          </a:xfrm>
          <a:prstGeom prst="rect">
            <a:avLst/>
          </a:prstGeom>
          <a:noFill/>
          <a:ln/>
        </p:spPr>
        <p:txBody>
          <a:bodyPr wrap="square" rtlCol="0" anchor="ctr"/>
          <a:lstStyle/>
          <a:p>
            <a:pPr algn="r" indent="0" marL="0">
              <a:buNone/>
            </a:pPr>
            <a:r>
              <a:rPr lang="en-US" sz="900" dirty="0">
                <a:solidFill>
                  <a:srgbClr val="888880"/>
                </a:solidFill>
                <a:latin typeface="Arial" pitchFamily="34" charset="0"/>
                <a:ea typeface="Arial" pitchFamily="34" charset="-122"/>
                <a:cs typeface="Arial" pitchFamily="34" charset="-120"/>
              </a:rPr>
              <a:t>07 / 09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1EB"/>
        </a:solidFill>
      </p:bgPr>
    </p:bg>
    <p:spTree>
      <p:nvGrpSpPr>
        <p:cNvPr id="1" name=""/>
        <p:cNvGrpSpPr/>
        <p:nvPr/>
      </p:nvGrpSpPr>
      <p:grpSpPr>
        <a:xfrm>
          <a:off x="0" y="0"/>
          <a:ext cx="0" cy="0"/>
          <a:chOff x="0" y="0"/>
          <a:chExt cx="0" cy="0"/>
        </a:xfrm>
      </p:grpSpPr>
      <p:sp>
        <p:nvSpPr>
          <p:cNvPr id="2" name="Text 0"/>
          <p:cNvSpPr/>
          <p:nvPr/>
        </p:nvSpPr>
        <p:spPr>
          <a:xfrm>
            <a:off x="640080" y="502920"/>
            <a:ext cx="10908792" cy="201168"/>
          </a:xfrm>
          <a:prstGeom prst="rect">
            <a:avLst/>
          </a:prstGeom>
          <a:noFill/>
          <a:ln/>
        </p:spPr>
        <p:txBody>
          <a:bodyPr wrap="square" rtlCol="0" anchor="ctr"/>
          <a:lstStyle/>
          <a:p>
            <a:pPr indent="0" marL="0">
              <a:buNone/>
            </a:pPr>
            <a:r>
              <a:rPr lang="en-US" sz="900" b="1" spc="200" kern="0" dirty="0">
                <a:solidFill>
                  <a:srgbClr val="888880"/>
                </a:solidFill>
                <a:latin typeface="Arial" pitchFamily="34" charset="0"/>
                <a:ea typeface="Arial" pitchFamily="34" charset="-122"/>
                <a:cs typeface="Arial" pitchFamily="34" charset="-120"/>
              </a:rPr>
              <a:t>TRACTION &amp; ROADMAP</a:t>
            </a:r>
            <a:endParaRPr lang="en-US" sz="900" dirty="0"/>
          </a:p>
        </p:txBody>
      </p:sp>
      <p:sp>
        <p:nvSpPr>
          <p:cNvPr id="3" name="Text 1"/>
          <p:cNvSpPr/>
          <p:nvPr/>
        </p:nvSpPr>
        <p:spPr>
          <a:xfrm>
            <a:off x="640080" y="685800"/>
            <a:ext cx="10908792" cy="1463040"/>
          </a:xfrm>
          <a:prstGeom prst="rect">
            <a:avLst/>
          </a:prstGeom>
          <a:noFill/>
          <a:ln/>
        </p:spPr>
        <p:txBody>
          <a:bodyPr wrap="square" rtlCol="0" anchor="ctr"/>
          <a:lstStyle/>
          <a:p>
            <a:pPr indent="0" marL="0">
              <a:lnSpc>
                <a:spcPct val="110000"/>
              </a:lnSpc>
              <a:buNone/>
            </a:pPr>
            <a:r>
              <a:rPr lang="en-US" sz="3400" b="1" dirty="0">
                <a:solidFill>
                  <a:srgbClr val="111315"/>
                </a:solidFill>
                <a:latin typeface="Arial" pitchFamily="34" charset="0"/>
                <a:ea typeface="Arial" pitchFamily="34" charset="-122"/>
                <a:cs typeface="Arial" pitchFamily="34" charset="-120"/>
              </a:rPr>
              <a:t>Live, growing,</a:t>
            </a:r>
            <a:endParaRPr lang="en-US" sz="3400" dirty="0"/>
          </a:p>
          <a:p>
            <a:pPr indent="0" marL="0">
              <a:lnSpc>
                <a:spcPct val="110000"/>
              </a:lnSpc>
              <a:buNone/>
            </a:pPr>
            <a:r>
              <a:rPr lang="en-US" sz="3400" b="1" dirty="0">
                <a:solidFill>
                  <a:srgbClr val="111315"/>
                </a:solidFill>
                <a:latin typeface="Arial" pitchFamily="34" charset="0"/>
                <a:ea typeface="Arial" pitchFamily="34" charset="-122"/>
                <a:cs typeface="Arial" pitchFamily="34" charset="-120"/>
              </a:rPr>
              <a:t>just getting started.</a:t>
            </a:r>
            <a:endParaRPr lang="en-US" sz="3400" dirty="0"/>
          </a:p>
        </p:txBody>
      </p:sp>
      <p:sp>
        <p:nvSpPr>
          <p:cNvPr id="4" name="Shape 2"/>
          <p:cNvSpPr/>
          <p:nvPr/>
        </p:nvSpPr>
        <p:spPr>
          <a:xfrm>
            <a:off x="640080" y="1874520"/>
            <a:ext cx="3474720" cy="1554480"/>
          </a:xfrm>
          <a:prstGeom prst="roundRect">
            <a:avLst>
              <a:gd name="adj" fmla="val 7059"/>
            </a:avLst>
          </a:prstGeom>
          <a:solidFill>
            <a:srgbClr val="FFFFFF"/>
          </a:solidFill>
          <a:ln w="9525">
            <a:solidFill>
              <a:srgbClr val="E0DDD6"/>
            </a:solidFill>
            <a:prstDash val="solid"/>
          </a:ln>
        </p:spPr>
      </p:sp>
      <p:sp>
        <p:nvSpPr>
          <p:cNvPr id="5" name="Text 3"/>
          <p:cNvSpPr/>
          <p:nvPr/>
        </p:nvSpPr>
        <p:spPr>
          <a:xfrm>
            <a:off x="868680" y="2029968"/>
            <a:ext cx="3108960" cy="512064"/>
          </a:xfrm>
          <a:prstGeom prst="rect">
            <a:avLst/>
          </a:prstGeom>
          <a:noFill/>
          <a:ln/>
        </p:spPr>
        <p:txBody>
          <a:bodyPr wrap="square" rtlCol="0" anchor="ctr"/>
          <a:lstStyle/>
          <a:p>
            <a:pPr indent="0" marL="0">
              <a:buNone/>
            </a:pPr>
            <a:r>
              <a:rPr lang="en-US" sz="3200" b="1" dirty="0">
                <a:solidFill>
                  <a:srgbClr val="4A7EF5"/>
                </a:solidFill>
                <a:latin typeface="Arial" pitchFamily="34" charset="0"/>
                <a:ea typeface="Arial" pitchFamily="34" charset="-122"/>
                <a:cs typeface="Arial" pitchFamily="34" charset="-120"/>
              </a:rPr>
              <a:t>Day 1</a:t>
            </a:r>
            <a:endParaRPr lang="en-US" sz="3200" dirty="0"/>
          </a:p>
        </p:txBody>
      </p:sp>
      <p:sp>
        <p:nvSpPr>
          <p:cNvPr id="6" name="Text 4"/>
          <p:cNvSpPr/>
          <p:nvPr/>
        </p:nvSpPr>
        <p:spPr>
          <a:xfrm>
            <a:off x="868680" y="2542032"/>
            <a:ext cx="3108960" cy="640080"/>
          </a:xfrm>
          <a:prstGeom prst="rect">
            <a:avLst/>
          </a:prstGeom>
          <a:noFill/>
          <a:ln/>
        </p:spPr>
        <p:txBody>
          <a:bodyPr wrap="square" rtlCol="0" anchor="ctr"/>
          <a:lstStyle/>
          <a:p>
            <a:pPr indent="0" marL="0">
              <a:lnSpc>
                <a:spcPct val="140000"/>
              </a:lnSpc>
              <a:buNone/>
            </a:pPr>
            <a:r>
              <a:rPr lang="en-US" sz="1050" dirty="0">
                <a:solidFill>
                  <a:srgbClr val="888880"/>
                </a:solidFill>
                <a:latin typeface="Arial" pitchFamily="34" charset="0"/>
                <a:ea typeface="Arial" pitchFamily="34" charset="-122"/>
                <a:cs typeface="Arial" pitchFamily="34" charset="-120"/>
              </a:rPr>
              <a:t>Launching publicly on Product Hunt today — built in stealth, now open.</a:t>
            </a:r>
            <a:endParaRPr lang="en-US" sz="1050" dirty="0"/>
          </a:p>
        </p:txBody>
      </p:sp>
      <p:sp>
        <p:nvSpPr>
          <p:cNvPr id="7" name="Shape 5"/>
          <p:cNvSpPr/>
          <p:nvPr/>
        </p:nvSpPr>
        <p:spPr>
          <a:xfrm>
            <a:off x="4343400" y="1874520"/>
            <a:ext cx="3474720" cy="1554480"/>
          </a:xfrm>
          <a:prstGeom prst="roundRect">
            <a:avLst>
              <a:gd name="adj" fmla="val 7059"/>
            </a:avLst>
          </a:prstGeom>
          <a:solidFill>
            <a:srgbClr val="FFFFFF"/>
          </a:solidFill>
          <a:ln w="9525">
            <a:solidFill>
              <a:srgbClr val="E0DDD6"/>
            </a:solidFill>
            <a:prstDash val="solid"/>
          </a:ln>
        </p:spPr>
      </p:sp>
      <p:sp>
        <p:nvSpPr>
          <p:cNvPr id="8" name="Text 6"/>
          <p:cNvSpPr/>
          <p:nvPr/>
        </p:nvSpPr>
        <p:spPr>
          <a:xfrm>
            <a:off x="4572000" y="2029968"/>
            <a:ext cx="3108960" cy="512064"/>
          </a:xfrm>
          <a:prstGeom prst="rect">
            <a:avLst/>
          </a:prstGeom>
          <a:noFill/>
          <a:ln/>
        </p:spPr>
        <p:txBody>
          <a:bodyPr wrap="square" rtlCol="0" anchor="ctr"/>
          <a:lstStyle/>
          <a:p>
            <a:pPr indent="0" marL="0">
              <a:buNone/>
            </a:pPr>
            <a:r>
              <a:rPr lang="en-US" sz="3200" b="1" dirty="0">
                <a:solidFill>
                  <a:srgbClr val="3A9E56"/>
                </a:solidFill>
                <a:latin typeface="Arial" pitchFamily="34" charset="0"/>
                <a:ea typeface="Arial" pitchFamily="34" charset="-122"/>
                <a:cs typeface="Arial" pitchFamily="34" charset="-120"/>
              </a:rPr>
              <a:t>Full</a:t>
            </a:r>
            <a:endParaRPr lang="en-US" sz="3200" dirty="0"/>
          </a:p>
        </p:txBody>
      </p:sp>
      <p:sp>
        <p:nvSpPr>
          <p:cNvPr id="9" name="Text 7"/>
          <p:cNvSpPr/>
          <p:nvPr/>
        </p:nvSpPr>
        <p:spPr>
          <a:xfrm>
            <a:off x="4572000" y="2542032"/>
            <a:ext cx="3108960" cy="640080"/>
          </a:xfrm>
          <a:prstGeom prst="rect">
            <a:avLst/>
          </a:prstGeom>
          <a:noFill/>
          <a:ln/>
        </p:spPr>
        <p:txBody>
          <a:bodyPr wrap="square" rtlCol="0" anchor="ctr"/>
          <a:lstStyle/>
          <a:p>
            <a:pPr indent="0" marL="0">
              <a:lnSpc>
                <a:spcPct val="140000"/>
              </a:lnSpc>
              <a:buNone/>
            </a:pPr>
            <a:r>
              <a:rPr lang="en-US" sz="1050" dirty="0">
                <a:solidFill>
                  <a:srgbClr val="888880"/>
                </a:solidFill>
                <a:latin typeface="Arial" pitchFamily="34" charset="0"/>
                <a:ea typeface="Arial" pitchFamily="34" charset="-122"/>
                <a:cs typeface="Arial" pitchFamily="34" charset="-120"/>
              </a:rPr>
              <a:t>Working product: AI breakdown, focus mode, sync, idea boards, admin.</a:t>
            </a:r>
            <a:endParaRPr lang="en-US" sz="1050" dirty="0"/>
          </a:p>
        </p:txBody>
      </p:sp>
      <p:sp>
        <p:nvSpPr>
          <p:cNvPr id="10" name="Shape 8"/>
          <p:cNvSpPr/>
          <p:nvPr/>
        </p:nvSpPr>
        <p:spPr>
          <a:xfrm>
            <a:off x="8046720" y="1874520"/>
            <a:ext cx="3474720" cy="1554480"/>
          </a:xfrm>
          <a:prstGeom prst="roundRect">
            <a:avLst>
              <a:gd name="adj" fmla="val 7059"/>
            </a:avLst>
          </a:prstGeom>
          <a:solidFill>
            <a:srgbClr val="FFFFFF"/>
          </a:solidFill>
          <a:ln w="9525">
            <a:solidFill>
              <a:srgbClr val="E0DDD6"/>
            </a:solidFill>
            <a:prstDash val="solid"/>
          </a:ln>
        </p:spPr>
      </p:sp>
      <p:sp>
        <p:nvSpPr>
          <p:cNvPr id="11" name="Text 9"/>
          <p:cNvSpPr/>
          <p:nvPr/>
        </p:nvSpPr>
        <p:spPr>
          <a:xfrm>
            <a:off x="8275320" y="2029968"/>
            <a:ext cx="3108960" cy="512064"/>
          </a:xfrm>
          <a:prstGeom prst="rect">
            <a:avLst/>
          </a:prstGeom>
          <a:noFill/>
          <a:ln/>
        </p:spPr>
        <p:txBody>
          <a:bodyPr wrap="square" rtlCol="0" anchor="ctr"/>
          <a:lstStyle/>
          <a:p>
            <a:pPr indent="0" marL="0">
              <a:buNone/>
            </a:pPr>
            <a:r>
              <a:rPr lang="en-US" sz="3200" b="1" dirty="0">
                <a:solidFill>
                  <a:srgbClr val="9B6FE8"/>
                </a:solidFill>
                <a:latin typeface="Arial" pitchFamily="34" charset="0"/>
                <a:ea typeface="Arial" pitchFamily="34" charset="-122"/>
                <a:cs typeface="Arial" pitchFamily="34" charset="-120"/>
              </a:rPr>
              <a:t>Solo</a:t>
            </a:r>
            <a:endParaRPr lang="en-US" sz="3200" dirty="0"/>
          </a:p>
        </p:txBody>
      </p:sp>
      <p:sp>
        <p:nvSpPr>
          <p:cNvPr id="12" name="Text 10"/>
          <p:cNvSpPr/>
          <p:nvPr/>
        </p:nvSpPr>
        <p:spPr>
          <a:xfrm>
            <a:off x="8275320" y="2542032"/>
            <a:ext cx="3108960" cy="640080"/>
          </a:xfrm>
          <a:prstGeom prst="rect">
            <a:avLst/>
          </a:prstGeom>
          <a:noFill/>
          <a:ln/>
        </p:spPr>
        <p:txBody>
          <a:bodyPr wrap="square" rtlCol="0" anchor="ctr"/>
          <a:lstStyle/>
          <a:p>
            <a:pPr indent="0" marL="0">
              <a:lnSpc>
                <a:spcPct val="140000"/>
              </a:lnSpc>
              <a:buNone/>
            </a:pPr>
            <a:r>
              <a:rPr lang="en-US" sz="1050" dirty="0">
                <a:solidFill>
                  <a:srgbClr val="888880"/>
                </a:solidFill>
                <a:latin typeface="Arial" pitchFamily="34" charset="0"/>
                <a:ea typeface="Arial" pitchFamily="34" charset="-122"/>
                <a:cs typeface="Arial" pitchFamily="34" charset="-120"/>
              </a:rPr>
              <a:t>Built end-to-end by a solo founder. Fast iteration, high conviction.</a:t>
            </a:r>
            <a:endParaRPr lang="en-US" sz="1050" dirty="0"/>
          </a:p>
        </p:txBody>
      </p:sp>
      <p:sp>
        <p:nvSpPr>
          <p:cNvPr id="13" name="Shape 11"/>
          <p:cNvSpPr/>
          <p:nvPr/>
        </p:nvSpPr>
        <p:spPr>
          <a:xfrm>
            <a:off x="640080" y="3657600"/>
            <a:ext cx="10908792" cy="2788920"/>
          </a:xfrm>
          <a:prstGeom prst="roundRect">
            <a:avLst>
              <a:gd name="adj" fmla="val 3934"/>
            </a:avLst>
          </a:prstGeom>
          <a:solidFill>
            <a:srgbClr val="FFFFFF"/>
          </a:solidFill>
          <a:ln w="9525">
            <a:solidFill>
              <a:srgbClr val="E0DDD6"/>
            </a:solidFill>
            <a:prstDash val="solid"/>
          </a:ln>
        </p:spPr>
      </p:sp>
      <p:sp>
        <p:nvSpPr>
          <p:cNvPr id="14" name="Text 12"/>
          <p:cNvSpPr/>
          <p:nvPr/>
        </p:nvSpPr>
        <p:spPr>
          <a:xfrm>
            <a:off x="868680" y="3840480"/>
            <a:ext cx="2743200" cy="201168"/>
          </a:xfrm>
          <a:prstGeom prst="rect">
            <a:avLst/>
          </a:prstGeom>
          <a:noFill/>
          <a:ln/>
        </p:spPr>
        <p:txBody>
          <a:bodyPr wrap="square" rtlCol="0" anchor="ctr"/>
          <a:lstStyle/>
          <a:p>
            <a:pPr indent="0" marL="0">
              <a:buNone/>
            </a:pPr>
            <a:r>
              <a:rPr lang="en-US" sz="900" b="1" spc="200" kern="0" dirty="0">
                <a:solidFill>
                  <a:srgbClr val="888880"/>
                </a:solidFill>
                <a:latin typeface="Arial" pitchFamily="34" charset="0"/>
                <a:ea typeface="Arial" pitchFamily="34" charset="-122"/>
                <a:cs typeface="Arial" pitchFamily="34" charset="-120"/>
              </a:rPr>
              <a:t>ROADMAP</a:t>
            </a:r>
            <a:endParaRPr lang="en-US" sz="900" dirty="0"/>
          </a:p>
        </p:txBody>
      </p:sp>
      <p:sp>
        <p:nvSpPr>
          <p:cNvPr id="15" name="Text 13"/>
          <p:cNvSpPr/>
          <p:nvPr/>
        </p:nvSpPr>
        <p:spPr>
          <a:xfrm>
            <a:off x="868680" y="4160520"/>
            <a:ext cx="822960" cy="237744"/>
          </a:xfrm>
          <a:prstGeom prst="rect">
            <a:avLst/>
          </a:prstGeom>
          <a:noFill/>
          <a:ln/>
        </p:spPr>
        <p:txBody>
          <a:bodyPr wrap="square" rtlCol="0" anchor="ctr"/>
          <a:lstStyle/>
          <a:p>
            <a:pPr indent="0" marL="0">
              <a:buNone/>
            </a:pPr>
            <a:r>
              <a:rPr lang="en-US" sz="1000" b="1" dirty="0">
                <a:solidFill>
                  <a:srgbClr val="888880"/>
                </a:solidFill>
                <a:latin typeface="Arial" pitchFamily="34" charset="0"/>
                <a:ea typeface="Arial" pitchFamily="34" charset="-122"/>
                <a:cs typeface="Arial" pitchFamily="34" charset="-120"/>
              </a:rPr>
              <a:t>Q2 '25</a:t>
            </a:r>
            <a:endParaRPr lang="en-US" sz="1000" dirty="0"/>
          </a:p>
        </p:txBody>
      </p:sp>
      <p:sp>
        <p:nvSpPr>
          <p:cNvPr id="16" name="Text 14"/>
          <p:cNvSpPr/>
          <p:nvPr/>
        </p:nvSpPr>
        <p:spPr>
          <a:xfrm>
            <a:off x="1828800" y="4160520"/>
            <a:ext cx="4572000" cy="237744"/>
          </a:xfrm>
          <a:prstGeom prst="rect">
            <a:avLst/>
          </a:prstGeom>
          <a:noFill/>
          <a:ln/>
        </p:spPr>
        <p:txBody>
          <a:bodyPr wrap="square" rtlCol="0" anchor="ctr"/>
          <a:lstStyle/>
          <a:p>
            <a:pPr indent="0" marL="0">
              <a:buNone/>
            </a:pPr>
            <a:r>
              <a:rPr lang="en-US" sz="1200" b="1" dirty="0">
                <a:solidFill>
                  <a:srgbClr val="111315"/>
                </a:solidFill>
                <a:latin typeface="Arial" pitchFamily="34" charset="0"/>
                <a:ea typeface="Arial" pitchFamily="34" charset="-122"/>
                <a:cs typeface="Arial" pitchFamily="34" charset="-120"/>
              </a:rPr>
              <a:t>Mobile-responsive + PWA</a:t>
            </a:r>
            <a:endParaRPr lang="en-US" sz="1200" dirty="0"/>
          </a:p>
        </p:txBody>
      </p:sp>
      <p:sp>
        <p:nvSpPr>
          <p:cNvPr id="17" name="Text 15"/>
          <p:cNvSpPr/>
          <p:nvPr/>
        </p:nvSpPr>
        <p:spPr>
          <a:xfrm>
            <a:off x="1828800" y="4416552"/>
            <a:ext cx="9144000" cy="219456"/>
          </a:xfrm>
          <a:prstGeom prst="rect">
            <a:avLst/>
          </a:prstGeom>
          <a:noFill/>
          <a:ln/>
        </p:spPr>
        <p:txBody>
          <a:bodyPr wrap="square" rtlCol="0" anchor="ctr"/>
          <a:lstStyle/>
          <a:p>
            <a:pPr indent="0" marL="0">
              <a:buNone/>
            </a:pPr>
            <a:r>
              <a:rPr lang="en-US" sz="1050" dirty="0">
                <a:solidFill>
                  <a:srgbClr val="888880"/>
                </a:solidFill>
                <a:latin typeface="Arial" pitchFamily="34" charset="0"/>
                <a:ea typeface="Arial" pitchFamily="34" charset="-122"/>
                <a:cs typeface="Arial" pitchFamily="34" charset="-120"/>
              </a:rPr>
              <a:t>Full touch support, installable on iOS/Android</a:t>
            </a:r>
            <a:endParaRPr lang="en-US" sz="1050" dirty="0"/>
          </a:p>
        </p:txBody>
      </p:sp>
      <p:sp>
        <p:nvSpPr>
          <p:cNvPr id="18" name="Text 16"/>
          <p:cNvSpPr/>
          <p:nvPr/>
        </p:nvSpPr>
        <p:spPr>
          <a:xfrm>
            <a:off x="868680" y="4690872"/>
            <a:ext cx="822960" cy="237744"/>
          </a:xfrm>
          <a:prstGeom prst="rect">
            <a:avLst/>
          </a:prstGeom>
          <a:noFill/>
          <a:ln/>
        </p:spPr>
        <p:txBody>
          <a:bodyPr wrap="square" rtlCol="0" anchor="ctr"/>
          <a:lstStyle/>
          <a:p>
            <a:pPr indent="0" marL="0">
              <a:buNone/>
            </a:pPr>
            <a:r>
              <a:rPr lang="en-US" sz="1000" b="1" dirty="0">
                <a:solidFill>
                  <a:srgbClr val="888880"/>
                </a:solidFill>
                <a:latin typeface="Arial" pitchFamily="34" charset="0"/>
                <a:ea typeface="Arial" pitchFamily="34" charset="-122"/>
                <a:cs typeface="Arial" pitchFamily="34" charset="-120"/>
              </a:rPr>
              <a:t>Q3 '25</a:t>
            </a:r>
            <a:endParaRPr lang="en-US" sz="1000" dirty="0"/>
          </a:p>
        </p:txBody>
      </p:sp>
      <p:sp>
        <p:nvSpPr>
          <p:cNvPr id="19" name="Text 17"/>
          <p:cNvSpPr/>
          <p:nvPr/>
        </p:nvSpPr>
        <p:spPr>
          <a:xfrm>
            <a:off x="1828800" y="4690872"/>
            <a:ext cx="4572000" cy="237744"/>
          </a:xfrm>
          <a:prstGeom prst="rect">
            <a:avLst/>
          </a:prstGeom>
          <a:noFill/>
          <a:ln/>
        </p:spPr>
        <p:txBody>
          <a:bodyPr wrap="square" rtlCol="0" anchor="ctr"/>
          <a:lstStyle/>
          <a:p>
            <a:pPr indent="0" marL="0">
              <a:buNone/>
            </a:pPr>
            <a:r>
              <a:rPr lang="en-US" sz="1200" b="1" dirty="0">
                <a:solidFill>
                  <a:srgbClr val="111315"/>
                </a:solidFill>
                <a:latin typeface="Arial" pitchFamily="34" charset="0"/>
                <a:ea typeface="Arial" pitchFamily="34" charset="-122"/>
                <a:cs typeface="Arial" pitchFamily="34" charset="-120"/>
              </a:rPr>
              <a:t>Team boards &amp; shared workspaces</a:t>
            </a:r>
            <a:endParaRPr lang="en-US" sz="1200" dirty="0"/>
          </a:p>
        </p:txBody>
      </p:sp>
      <p:sp>
        <p:nvSpPr>
          <p:cNvPr id="20" name="Text 18"/>
          <p:cNvSpPr/>
          <p:nvPr/>
        </p:nvSpPr>
        <p:spPr>
          <a:xfrm>
            <a:off x="1828800" y="4946904"/>
            <a:ext cx="9144000" cy="219456"/>
          </a:xfrm>
          <a:prstGeom prst="rect">
            <a:avLst/>
          </a:prstGeom>
          <a:noFill/>
          <a:ln/>
        </p:spPr>
        <p:txBody>
          <a:bodyPr wrap="square" rtlCol="0" anchor="ctr"/>
          <a:lstStyle/>
          <a:p>
            <a:pPr indent="0" marL="0">
              <a:buNone/>
            </a:pPr>
            <a:r>
              <a:rPr lang="en-US" sz="1050" dirty="0">
                <a:solidFill>
                  <a:srgbClr val="888880"/>
                </a:solidFill>
                <a:latin typeface="Arial" pitchFamily="34" charset="0"/>
                <a:ea typeface="Arial" pitchFamily="34" charset="-122"/>
                <a:cs typeface="Arial" pitchFamily="34" charset="-120"/>
              </a:rPr>
              <a:t>Invite collaborators, comments, role permissions</a:t>
            </a:r>
            <a:endParaRPr lang="en-US" sz="1050" dirty="0"/>
          </a:p>
        </p:txBody>
      </p:sp>
      <p:sp>
        <p:nvSpPr>
          <p:cNvPr id="21" name="Text 19"/>
          <p:cNvSpPr/>
          <p:nvPr/>
        </p:nvSpPr>
        <p:spPr>
          <a:xfrm>
            <a:off x="868680" y="5221224"/>
            <a:ext cx="822960" cy="237744"/>
          </a:xfrm>
          <a:prstGeom prst="rect">
            <a:avLst/>
          </a:prstGeom>
          <a:noFill/>
          <a:ln/>
        </p:spPr>
        <p:txBody>
          <a:bodyPr wrap="square" rtlCol="0" anchor="ctr"/>
          <a:lstStyle/>
          <a:p>
            <a:pPr indent="0" marL="0">
              <a:buNone/>
            </a:pPr>
            <a:r>
              <a:rPr lang="en-US" sz="1000" b="1" dirty="0">
                <a:solidFill>
                  <a:srgbClr val="888880"/>
                </a:solidFill>
                <a:latin typeface="Arial" pitchFamily="34" charset="0"/>
                <a:ea typeface="Arial" pitchFamily="34" charset="-122"/>
                <a:cs typeface="Arial" pitchFamily="34" charset="-120"/>
              </a:rPr>
              <a:t>Q4 '25</a:t>
            </a:r>
            <a:endParaRPr lang="en-US" sz="1000" dirty="0"/>
          </a:p>
        </p:txBody>
      </p:sp>
      <p:sp>
        <p:nvSpPr>
          <p:cNvPr id="22" name="Text 20"/>
          <p:cNvSpPr/>
          <p:nvPr/>
        </p:nvSpPr>
        <p:spPr>
          <a:xfrm>
            <a:off x="1828800" y="5221224"/>
            <a:ext cx="4572000" cy="237744"/>
          </a:xfrm>
          <a:prstGeom prst="rect">
            <a:avLst/>
          </a:prstGeom>
          <a:noFill/>
          <a:ln/>
        </p:spPr>
        <p:txBody>
          <a:bodyPr wrap="square" rtlCol="0" anchor="ctr"/>
          <a:lstStyle/>
          <a:p>
            <a:pPr indent="0" marL="0">
              <a:buNone/>
            </a:pPr>
            <a:r>
              <a:rPr lang="en-US" sz="1200" b="1" dirty="0">
                <a:solidFill>
                  <a:srgbClr val="111315"/>
                </a:solidFill>
                <a:latin typeface="Arial" pitchFamily="34" charset="0"/>
                <a:ea typeface="Arial" pitchFamily="34" charset="-122"/>
                <a:cs typeface="Arial" pitchFamily="34" charset="-120"/>
              </a:rPr>
              <a:t>Integrations: Calendar, GitHub, Linear</a:t>
            </a:r>
            <a:endParaRPr lang="en-US" sz="1200" dirty="0"/>
          </a:p>
        </p:txBody>
      </p:sp>
      <p:sp>
        <p:nvSpPr>
          <p:cNvPr id="23" name="Text 21"/>
          <p:cNvSpPr/>
          <p:nvPr/>
        </p:nvSpPr>
        <p:spPr>
          <a:xfrm>
            <a:off x="1828800" y="5477256"/>
            <a:ext cx="9144000" cy="219456"/>
          </a:xfrm>
          <a:prstGeom prst="rect">
            <a:avLst/>
          </a:prstGeom>
          <a:noFill/>
          <a:ln/>
        </p:spPr>
        <p:txBody>
          <a:bodyPr wrap="square" rtlCol="0" anchor="ctr"/>
          <a:lstStyle/>
          <a:p>
            <a:pPr indent="0" marL="0">
              <a:buNone/>
            </a:pPr>
            <a:r>
              <a:rPr lang="en-US" sz="1050" dirty="0">
                <a:solidFill>
                  <a:srgbClr val="888880"/>
                </a:solidFill>
                <a:latin typeface="Arial" pitchFamily="34" charset="0"/>
                <a:ea typeface="Arial" pitchFamily="34" charset="-122"/>
                <a:cs typeface="Arial" pitchFamily="34" charset="-120"/>
              </a:rPr>
              <a:t>Pull tasks from external tools into Boardtivity</a:t>
            </a:r>
            <a:endParaRPr lang="en-US" sz="1050" dirty="0"/>
          </a:p>
        </p:txBody>
      </p:sp>
      <p:sp>
        <p:nvSpPr>
          <p:cNvPr id="24" name="Text 22"/>
          <p:cNvSpPr/>
          <p:nvPr/>
        </p:nvSpPr>
        <p:spPr>
          <a:xfrm>
            <a:off x="868680" y="5751576"/>
            <a:ext cx="822960" cy="237744"/>
          </a:xfrm>
          <a:prstGeom prst="rect">
            <a:avLst/>
          </a:prstGeom>
          <a:noFill/>
          <a:ln/>
        </p:spPr>
        <p:txBody>
          <a:bodyPr wrap="square" rtlCol="0" anchor="ctr"/>
          <a:lstStyle/>
          <a:p>
            <a:pPr indent="0" marL="0">
              <a:buNone/>
            </a:pPr>
            <a:r>
              <a:rPr lang="en-US" sz="1000" b="1" dirty="0">
                <a:solidFill>
                  <a:srgbClr val="888880"/>
                </a:solidFill>
                <a:latin typeface="Arial" pitchFamily="34" charset="0"/>
                <a:ea typeface="Arial" pitchFamily="34" charset="-122"/>
                <a:cs typeface="Arial" pitchFamily="34" charset="-120"/>
              </a:rPr>
              <a:t>2026</a:t>
            </a:r>
            <a:endParaRPr lang="en-US" sz="1000" dirty="0"/>
          </a:p>
        </p:txBody>
      </p:sp>
      <p:sp>
        <p:nvSpPr>
          <p:cNvPr id="25" name="Text 23"/>
          <p:cNvSpPr/>
          <p:nvPr/>
        </p:nvSpPr>
        <p:spPr>
          <a:xfrm>
            <a:off x="1828800" y="5751576"/>
            <a:ext cx="4572000" cy="237744"/>
          </a:xfrm>
          <a:prstGeom prst="rect">
            <a:avLst/>
          </a:prstGeom>
          <a:noFill/>
          <a:ln/>
        </p:spPr>
        <p:txBody>
          <a:bodyPr wrap="square" rtlCol="0" anchor="ctr"/>
          <a:lstStyle/>
          <a:p>
            <a:pPr indent="0" marL="0">
              <a:buNone/>
            </a:pPr>
            <a:r>
              <a:rPr lang="en-US" sz="1200" b="1" dirty="0">
                <a:solidFill>
                  <a:srgbClr val="111315"/>
                </a:solidFill>
                <a:latin typeface="Arial" pitchFamily="34" charset="0"/>
                <a:ea typeface="Arial" pitchFamily="34" charset="-122"/>
                <a:cs typeface="Arial" pitchFamily="34" charset="-120"/>
              </a:rPr>
              <a:t>AI goal coaching + weekly review</a:t>
            </a:r>
            <a:endParaRPr lang="en-US" sz="1200" dirty="0"/>
          </a:p>
        </p:txBody>
      </p:sp>
      <p:sp>
        <p:nvSpPr>
          <p:cNvPr id="26" name="Text 24"/>
          <p:cNvSpPr/>
          <p:nvPr/>
        </p:nvSpPr>
        <p:spPr>
          <a:xfrm>
            <a:off x="1828800" y="6007608"/>
            <a:ext cx="9144000" cy="219456"/>
          </a:xfrm>
          <a:prstGeom prst="rect">
            <a:avLst/>
          </a:prstGeom>
          <a:noFill/>
          <a:ln/>
        </p:spPr>
        <p:txBody>
          <a:bodyPr wrap="square" rtlCol="0" anchor="ctr"/>
          <a:lstStyle/>
          <a:p>
            <a:pPr indent="0" marL="0">
              <a:buNone/>
            </a:pPr>
            <a:r>
              <a:rPr lang="en-US" sz="1050" dirty="0">
                <a:solidFill>
                  <a:srgbClr val="888880"/>
                </a:solidFill>
                <a:latin typeface="Arial" pitchFamily="34" charset="0"/>
                <a:ea typeface="Arial" pitchFamily="34" charset="-122"/>
                <a:cs typeface="Arial" pitchFamily="34" charset="-120"/>
              </a:rPr>
              <a:t>Proactive suggestions based on your history and patterns</a:t>
            </a:r>
            <a:endParaRPr lang="en-US" sz="1050" dirty="0"/>
          </a:p>
        </p:txBody>
      </p:sp>
      <p:sp>
        <p:nvSpPr>
          <p:cNvPr id="27" name="Text 25"/>
          <p:cNvSpPr/>
          <p:nvPr/>
        </p:nvSpPr>
        <p:spPr>
          <a:xfrm>
            <a:off x="11000232" y="6446520"/>
            <a:ext cx="914400" cy="274320"/>
          </a:xfrm>
          <a:prstGeom prst="rect">
            <a:avLst/>
          </a:prstGeom>
          <a:noFill/>
          <a:ln/>
        </p:spPr>
        <p:txBody>
          <a:bodyPr wrap="square" rtlCol="0" anchor="ctr"/>
          <a:lstStyle/>
          <a:p>
            <a:pPr algn="r" indent="0" marL="0">
              <a:buNone/>
            </a:pPr>
            <a:r>
              <a:rPr lang="en-US" sz="900" dirty="0">
                <a:solidFill>
                  <a:srgbClr val="888880"/>
                </a:solidFill>
                <a:latin typeface="Arial" pitchFamily="34" charset="0"/>
                <a:ea typeface="Arial" pitchFamily="34" charset="-122"/>
                <a:cs typeface="Arial" pitchFamily="34" charset="-120"/>
              </a:rPr>
              <a:t>08 / 09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315"/>
        </a:solidFill>
      </p:bgPr>
    </p:bg>
    <p:spTree>
      <p:nvGrpSpPr>
        <p:cNvPr id="1" name=""/>
        <p:cNvGrpSpPr/>
        <p:nvPr/>
      </p:nvGrpSpPr>
      <p:grpSpPr>
        <a:xfrm>
          <a:off x="0" y="0"/>
          <a:ext cx="0" cy="0"/>
          <a:chOff x="0" y="0"/>
          <a:chExt cx="0" cy="0"/>
        </a:xfrm>
      </p:grpSpPr>
      <p:sp>
        <p:nvSpPr>
          <p:cNvPr id="2" name="Text 0"/>
          <p:cNvSpPr/>
          <p:nvPr/>
        </p:nvSpPr>
        <p:spPr>
          <a:xfrm>
            <a:off x="640080" y="457200"/>
            <a:ext cx="3657600" cy="329184"/>
          </a:xfrm>
          <a:prstGeom prst="rect">
            <a:avLst/>
          </a:prstGeom>
          <a:noFill/>
          <a:ln/>
        </p:spPr>
        <p:txBody>
          <a:bodyPr wrap="square" rtlCol="0" anchor="ctr"/>
          <a:lstStyle/>
          <a:p>
            <a:pPr indent="0" marL="0">
              <a:buNone/>
            </a:pPr>
            <a:r>
              <a:rPr lang="en-US" sz="1300" b="1" spc="300" kern="0" dirty="0">
                <a:solidFill>
                  <a:srgbClr val="444444"/>
                </a:solidFill>
                <a:latin typeface="Arial" pitchFamily="34" charset="0"/>
                <a:ea typeface="Arial" pitchFamily="34" charset="-122"/>
                <a:cs typeface="Arial" pitchFamily="34" charset="-120"/>
              </a:rPr>
              <a:t>BOARDTIVITY</a:t>
            </a:r>
            <a:endParaRPr lang="en-US" sz="1300" dirty="0"/>
          </a:p>
        </p:txBody>
      </p:sp>
      <p:sp>
        <p:nvSpPr>
          <p:cNvPr id="3" name="Text 1"/>
          <p:cNvSpPr/>
          <p:nvPr/>
        </p:nvSpPr>
        <p:spPr>
          <a:xfrm>
            <a:off x="640080" y="1280160"/>
            <a:ext cx="5486400" cy="219456"/>
          </a:xfrm>
          <a:prstGeom prst="rect">
            <a:avLst/>
          </a:prstGeom>
          <a:noFill/>
          <a:ln/>
        </p:spPr>
        <p:txBody>
          <a:bodyPr wrap="square" rtlCol="0" anchor="ctr"/>
          <a:lstStyle/>
          <a:p>
            <a:pPr indent="0" marL="0">
              <a:buNone/>
            </a:pPr>
            <a:r>
              <a:rPr lang="en-US" sz="900" b="1" spc="200" kern="0" dirty="0">
                <a:solidFill>
                  <a:srgbClr val="444444"/>
                </a:solidFill>
                <a:latin typeface="Arial" pitchFamily="34" charset="0"/>
                <a:ea typeface="Arial" pitchFamily="34" charset="-122"/>
                <a:cs typeface="Arial" pitchFamily="34" charset="-120"/>
              </a:rPr>
              <a:t>LET'S BUILD TOGETHER</a:t>
            </a:r>
            <a:endParaRPr lang="en-US" sz="900" dirty="0"/>
          </a:p>
        </p:txBody>
      </p:sp>
      <p:sp>
        <p:nvSpPr>
          <p:cNvPr id="4" name="Text 2"/>
          <p:cNvSpPr/>
          <p:nvPr/>
        </p:nvSpPr>
        <p:spPr>
          <a:xfrm>
            <a:off x="640080" y="1600200"/>
            <a:ext cx="9144000" cy="1645920"/>
          </a:xfrm>
          <a:prstGeom prst="rect">
            <a:avLst/>
          </a:prstGeom>
          <a:noFill/>
          <a:ln/>
        </p:spPr>
        <p:txBody>
          <a:bodyPr wrap="square" rtlCol="0" anchor="ctr"/>
          <a:lstStyle/>
          <a:p>
            <a:pPr indent="0" marL="0">
              <a:lnSpc>
                <a:spcPct val="110000"/>
              </a:lnSpc>
              <a:buNone/>
            </a:pPr>
            <a:r>
              <a:rPr lang="en-US" sz="4600" b="1" dirty="0">
                <a:solidFill>
                  <a:srgbClr val="FFFFFF"/>
                </a:solidFill>
                <a:latin typeface="Arial" pitchFamily="34" charset="0"/>
                <a:ea typeface="Arial" pitchFamily="34" charset="-122"/>
                <a:cs typeface="Arial" pitchFamily="34" charset="-120"/>
              </a:rPr>
              <a:t>Ready to back</a:t>
            </a:r>
            <a:endParaRPr lang="en-US" sz="4600" dirty="0"/>
          </a:p>
          <a:p>
            <a:pPr indent="0" marL="0">
              <a:lnSpc>
                <a:spcPct val="110000"/>
              </a:lnSpc>
              <a:buNone/>
            </a:pPr>
            <a:r>
              <a:rPr lang="en-US" sz="4600" b="1" dirty="0">
                <a:solidFill>
                  <a:srgbClr val="FFFFFF"/>
                </a:solidFill>
                <a:latin typeface="Arial" pitchFamily="34" charset="0"/>
                <a:ea typeface="Arial" pitchFamily="34" charset="-122"/>
                <a:cs typeface="Arial" pitchFamily="34" charset="-120"/>
              </a:rPr>
              <a:t>the future of focus?</a:t>
            </a:r>
            <a:endParaRPr lang="en-US" sz="4600" dirty="0"/>
          </a:p>
        </p:txBody>
      </p:sp>
      <p:sp>
        <p:nvSpPr>
          <p:cNvPr id="5" name="Text 3"/>
          <p:cNvSpPr/>
          <p:nvPr/>
        </p:nvSpPr>
        <p:spPr>
          <a:xfrm>
            <a:off x="640080" y="3429000"/>
            <a:ext cx="8412480" cy="1005840"/>
          </a:xfrm>
          <a:prstGeom prst="rect">
            <a:avLst/>
          </a:prstGeom>
          <a:noFill/>
          <a:ln/>
        </p:spPr>
        <p:txBody>
          <a:bodyPr wrap="square" rtlCol="0" anchor="ctr"/>
          <a:lstStyle/>
          <a:p>
            <a:pPr indent="0" marL="0">
              <a:lnSpc>
                <a:spcPct val="160000"/>
              </a:lnSpc>
              <a:buNone/>
            </a:pPr>
            <a:r>
              <a:rPr lang="en-US" sz="1400" dirty="0">
                <a:solidFill>
                  <a:srgbClr val="888888"/>
                </a:solidFill>
                <a:latin typeface="Arial" pitchFamily="34" charset="0"/>
                <a:ea typeface="Arial" pitchFamily="34" charset="-122"/>
                <a:cs typeface="Arial" pitchFamily="34" charset="-120"/>
              </a:rPr>
              <a:t>Boardtivity is looking for early believers — advisors, angels, and power users who want to shape what productivity looks like for the next generation of builders.</a:t>
            </a:r>
            <a:endParaRPr lang="en-US" sz="1400" dirty="0"/>
          </a:p>
        </p:txBody>
      </p:sp>
      <p:sp>
        <p:nvSpPr>
          <p:cNvPr id="6" name="Shape 4"/>
          <p:cNvSpPr/>
          <p:nvPr/>
        </p:nvSpPr>
        <p:spPr>
          <a:xfrm>
            <a:off x="640080" y="4617720"/>
            <a:ext cx="2286000" cy="475488"/>
          </a:xfrm>
          <a:prstGeom prst="roundRect">
            <a:avLst>
              <a:gd name="adj" fmla="val 19231"/>
            </a:avLst>
          </a:prstGeom>
          <a:solidFill>
            <a:srgbClr val="FFFFFF"/>
          </a:solidFill>
          <a:ln w="12700">
            <a:solidFill>
              <a:srgbClr val="FFFFFF"/>
            </a:solidFill>
            <a:prstDash val="solid"/>
          </a:ln>
        </p:spPr>
      </p:sp>
      <p:sp>
        <p:nvSpPr>
          <p:cNvPr id="7" name="Text 5"/>
          <p:cNvSpPr/>
          <p:nvPr/>
        </p:nvSpPr>
        <p:spPr>
          <a:xfrm>
            <a:off x="640080" y="4617720"/>
            <a:ext cx="2286000" cy="475488"/>
          </a:xfrm>
          <a:prstGeom prst="rect">
            <a:avLst/>
          </a:prstGeom>
          <a:noFill/>
          <a:ln/>
        </p:spPr>
        <p:txBody>
          <a:bodyPr wrap="square" rtlCol="0" anchor="ctr"/>
          <a:lstStyle/>
          <a:p>
            <a:pPr algn="ctr" indent="0" marL="0">
              <a:buNone/>
            </a:pPr>
            <a:r>
              <a:rPr lang="en-US" sz="1300" b="1" dirty="0">
                <a:solidFill>
                  <a:srgbClr val="111315"/>
                </a:solidFill>
                <a:latin typeface="Arial" pitchFamily="34" charset="0"/>
                <a:ea typeface="Arial" pitchFamily="34" charset="-122"/>
                <a:cs typeface="Arial" pitchFamily="34" charset="-120"/>
              </a:rPr>
              <a:t>Try Boardtivity free</a:t>
            </a:r>
            <a:endParaRPr lang="en-US" sz="1300" dirty="0"/>
          </a:p>
        </p:txBody>
      </p:sp>
      <p:sp>
        <p:nvSpPr>
          <p:cNvPr id="8" name="Shape 6"/>
          <p:cNvSpPr/>
          <p:nvPr/>
        </p:nvSpPr>
        <p:spPr>
          <a:xfrm>
            <a:off x="3108960" y="4617720"/>
            <a:ext cx="2011680" cy="475488"/>
          </a:xfrm>
          <a:prstGeom prst="roundRect">
            <a:avLst>
              <a:gd name="adj" fmla="val 19231"/>
            </a:avLst>
          </a:prstGeom>
          <a:solidFill>
            <a:srgbClr val="1E2228"/>
          </a:solidFill>
          <a:ln w="9525">
            <a:solidFill>
              <a:srgbClr val="333333"/>
            </a:solidFill>
            <a:prstDash val="solid"/>
          </a:ln>
        </p:spPr>
      </p:sp>
      <p:sp>
        <p:nvSpPr>
          <p:cNvPr id="9" name="Text 7"/>
          <p:cNvSpPr/>
          <p:nvPr/>
        </p:nvSpPr>
        <p:spPr>
          <a:xfrm>
            <a:off x="3108960" y="4617720"/>
            <a:ext cx="2011680" cy="475488"/>
          </a:xfrm>
          <a:prstGeom prst="rect">
            <a:avLst/>
          </a:prstGeom>
          <a:noFill/>
          <a:ln/>
        </p:spPr>
        <p:txBody>
          <a:bodyPr wrap="square" rtlCol="0" anchor="ctr"/>
          <a:lstStyle/>
          <a:p>
            <a:pPr algn="ctr" indent="0" marL="0">
              <a:buNone/>
            </a:pPr>
            <a:r>
              <a:rPr lang="en-US" sz="1300" b="1" dirty="0">
                <a:solidFill>
                  <a:srgbClr val="888888"/>
                </a:solidFill>
                <a:latin typeface="Arial" pitchFamily="34" charset="0"/>
                <a:ea typeface="Arial" pitchFamily="34" charset="-122"/>
                <a:cs typeface="Arial" pitchFamily="34" charset="-120"/>
              </a:rPr>
              <a:t>hello@boardtivity.com</a:t>
            </a:r>
            <a:endParaRPr lang="en-US" sz="1300" dirty="0"/>
          </a:p>
        </p:txBody>
      </p:sp>
      <p:sp>
        <p:nvSpPr>
          <p:cNvPr id="10" name="Text 8"/>
          <p:cNvSpPr/>
          <p:nvPr/>
        </p:nvSpPr>
        <p:spPr>
          <a:xfrm>
            <a:off x="640080" y="6217920"/>
            <a:ext cx="3657600" cy="274320"/>
          </a:xfrm>
          <a:prstGeom prst="rect">
            <a:avLst/>
          </a:prstGeom>
          <a:noFill/>
          <a:ln/>
        </p:spPr>
        <p:txBody>
          <a:bodyPr wrap="square" rtlCol="0" anchor="ctr"/>
          <a:lstStyle/>
          <a:p>
            <a:pPr indent="0" marL="0">
              <a:buNone/>
            </a:pPr>
            <a:r>
              <a:rPr lang="en-US" sz="1100" dirty="0">
                <a:solidFill>
                  <a:srgbClr val="444444"/>
                </a:solidFill>
                <a:latin typeface="Arial" pitchFamily="34" charset="0"/>
                <a:ea typeface="Arial" pitchFamily="34" charset="-122"/>
                <a:cs typeface="Arial" pitchFamily="34" charset="-120"/>
              </a:rPr>
              <a:t>boardtivity.com</a:t>
            </a:r>
            <a:endParaRPr lang="en-US" sz="1100" dirty="0"/>
          </a:p>
        </p:txBody>
      </p:sp>
      <p:sp>
        <p:nvSpPr>
          <p:cNvPr id="11" name="Text 9"/>
          <p:cNvSpPr/>
          <p:nvPr/>
        </p:nvSpPr>
        <p:spPr>
          <a:xfrm>
            <a:off x="11000232" y="6446520"/>
            <a:ext cx="914400" cy="274320"/>
          </a:xfrm>
          <a:prstGeom prst="rect">
            <a:avLst/>
          </a:prstGeom>
          <a:noFill/>
          <a:ln/>
        </p:spPr>
        <p:txBody>
          <a:bodyPr wrap="square" rtlCol="0" anchor="ctr"/>
          <a:lstStyle/>
          <a:p>
            <a:pPr algn="r" indent="0" marL="0">
              <a:buNone/>
            </a:pPr>
            <a:r>
              <a:rPr lang="en-US" sz="900" dirty="0">
                <a:solidFill>
                  <a:srgbClr val="333333"/>
                </a:solidFill>
                <a:latin typeface="Arial" pitchFamily="34" charset="0"/>
                <a:ea typeface="Arial" pitchFamily="34" charset="-122"/>
                <a:cs typeface="Arial" pitchFamily="34" charset="-120"/>
              </a:rPr>
              <a:t>09 / 09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2026-04-05T19:36:10Z</dcterms:created>
  <dcterms:modified xsi:type="dcterms:W3CDTF">2026-04-05T19:36:10Z</dcterms:modified>
</cp:coreProperties>
</file>